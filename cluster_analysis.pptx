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7498080" y="-731521"/>
            <a:ext cx="2560321" cy="2560322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7955280" y="-274321"/>
            <a:ext cx="1828801" cy="1828801"/>
          </a:xfrm>
          <a:prstGeom prst="ellipse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Shape 3"/>
          <p:cNvSpPr/>
          <p:nvPr/>
        </p:nvSpPr>
        <p:spPr>
          <a:xfrm>
            <a:off x="-457200" y="3840479"/>
            <a:ext cx="1828800" cy="1828801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1C7293">
                <a:alpha val="3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4"/>
          <p:cNvSpPr txBox="1"/>
          <p:nvPr/>
        </p:nvSpPr>
        <p:spPr>
          <a:xfrm>
            <a:off x="502919" y="571544"/>
            <a:ext cx="813816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400" sz="1000">
                <a:solidFill>
                  <a:srgbClr val="0D9488"/>
                </a:solidFill>
              </a:defRPr>
            </a:lvl1pPr>
          </a:lstStyle>
          <a:p>
            <a:pPr/>
            <a:r>
              <a:t>STATISTICAL LEARNING — II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502919" y="1318746"/>
            <a:ext cx="8138162" cy="745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5200">
                <a:solidFill>
                  <a:srgbClr val="FFFFFF"/>
                </a:solidFill>
              </a:defRPr>
            </a:lvl1pPr>
          </a:lstStyle>
          <a:p>
            <a:pPr/>
            <a:r>
              <a:t>Cluster Analysis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502919" y="2501463"/>
            <a:ext cx="813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600">
                <a:solidFill>
                  <a:srgbClr val="CADCFC"/>
                </a:solidFill>
              </a:defRPr>
            </a:lvl1pPr>
          </a:lstStyle>
          <a:p>
            <a:pPr/>
            <a:r>
              <a:t>A Comparative Survey of Algorithms, Performance &amp; Applications</a:t>
            </a:r>
          </a:p>
        </p:txBody>
      </p:sp>
      <p:sp>
        <p:nvSpPr>
          <p:cNvPr id="27" name="Shape 7"/>
          <p:cNvSpPr/>
          <p:nvPr/>
        </p:nvSpPr>
        <p:spPr>
          <a:xfrm>
            <a:off x="457200" y="3017520"/>
            <a:ext cx="3657600" cy="27433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8"/>
          <p:cNvSpPr txBox="1"/>
          <p:nvPr/>
        </p:nvSpPr>
        <p:spPr>
          <a:xfrm>
            <a:off x="502919" y="3370756"/>
            <a:ext cx="813816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solidFill>
                  <a:srgbClr val="94C5D9"/>
                </a:solidFill>
              </a:defRPr>
            </a:pPr>
            <a:r>
              <a:t>Based on 6 Peer-Reviewed Research Papers</a:t>
            </a:r>
          </a:p>
          <a:p>
            <a:pPr>
              <a:defRPr sz="1100">
                <a:solidFill>
                  <a:srgbClr val="94C5D9"/>
                </a:solidFill>
              </a:defRPr>
            </a:pPr>
            <a:r>
              <a:t>K-Means  ·  DBSCAN  ·  Hierarchical  ·  Spectral  ·  Graph Clustering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0A234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1"/>
          <p:cNvSpPr txBox="1"/>
          <p:nvPr/>
        </p:nvSpPr>
        <p:spPr>
          <a:xfrm>
            <a:off x="411479" y="18910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32" name="Shape 2"/>
          <p:cNvSpPr/>
          <p:nvPr/>
        </p:nvSpPr>
        <p:spPr>
          <a:xfrm>
            <a:off x="274319" y="1005839"/>
            <a:ext cx="4160522" cy="1143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" name="Shape 3"/>
          <p:cNvSpPr/>
          <p:nvPr/>
        </p:nvSpPr>
        <p:spPr>
          <a:xfrm>
            <a:off x="274320" y="1005839"/>
            <a:ext cx="457201" cy="1143001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4"/>
          <p:cNvSpPr txBox="1"/>
          <p:nvPr/>
        </p:nvSpPr>
        <p:spPr>
          <a:xfrm>
            <a:off x="274320" y="1472762"/>
            <a:ext cx="457201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5" name="Text 5"/>
          <p:cNvSpPr txBox="1"/>
          <p:nvPr/>
        </p:nvSpPr>
        <p:spPr>
          <a:xfrm>
            <a:off x="868679" y="1178491"/>
            <a:ext cx="34290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E293B"/>
                </a:solidFill>
              </a:defRPr>
            </a:lvl1pPr>
          </a:lstStyle>
          <a:p>
            <a:pPr/>
            <a:r>
              <a:t>What is Cluster Analysis?</a:t>
            </a:r>
          </a:p>
        </p:txBody>
      </p:sp>
      <p:sp>
        <p:nvSpPr>
          <p:cNvPr id="36" name="Text 6"/>
          <p:cNvSpPr txBox="1"/>
          <p:nvPr/>
        </p:nvSpPr>
        <p:spPr>
          <a:xfrm>
            <a:off x="868679" y="1664252"/>
            <a:ext cx="342900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Foundations and key terminology</a:t>
            </a:r>
          </a:p>
        </p:txBody>
      </p:sp>
      <p:sp>
        <p:nvSpPr>
          <p:cNvPr id="37" name="Shape 7"/>
          <p:cNvSpPr/>
          <p:nvPr/>
        </p:nvSpPr>
        <p:spPr>
          <a:xfrm>
            <a:off x="4709159" y="1005839"/>
            <a:ext cx="4160521" cy="1143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" name="Shape 8"/>
          <p:cNvSpPr/>
          <p:nvPr/>
        </p:nvSpPr>
        <p:spPr>
          <a:xfrm>
            <a:off x="4709159" y="1005839"/>
            <a:ext cx="457201" cy="1143001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9"/>
          <p:cNvSpPr txBox="1"/>
          <p:nvPr/>
        </p:nvSpPr>
        <p:spPr>
          <a:xfrm>
            <a:off x="4709159" y="1472762"/>
            <a:ext cx="457201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0" name="Text 10"/>
          <p:cNvSpPr txBox="1"/>
          <p:nvPr/>
        </p:nvSpPr>
        <p:spPr>
          <a:xfrm>
            <a:off x="5303519" y="1178491"/>
            <a:ext cx="34290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E293B"/>
                </a:solidFill>
              </a:defRPr>
            </a:lvl1pPr>
          </a:lstStyle>
          <a:p>
            <a:pPr/>
            <a:r>
              <a:t>Research Papers Overview</a:t>
            </a:r>
          </a:p>
        </p:txBody>
      </p:sp>
      <p:sp>
        <p:nvSpPr>
          <p:cNvPr id="41" name="Text 11"/>
          <p:cNvSpPr txBox="1"/>
          <p:nvPr/>
        </p:nvSpPr>
        <p:spPr>
          <a:xfrm>
            <a:off x="5303519" y="1664252"/>
            <a:ext cx="342900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6 curated free-access papers</a:t>
            </a:r>
          </a:p>
        </p:txBody>
      </p:sp>
      <p:sp>
        <p:nvSpPr>
          <p:cNvPr id="42" name="Shape 12"/>
          <p:cNvSpPr/>
          <p:nvPr/>
        </p:nvSpPr>
        <p:spPr>
          <a:xfrm>
            <a:off x="274319" y="2331720"/>
            <a:ext cx="4160522" cy="1143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" name="Shape 13"/>
          <p:cNvSpPr/>
          <p:nvPr/>
        </p:nvSpPr>
        <p:spPr>
          <a:xfrm>
            <a:off x="274320" y="2331720"/>
            <a:ext cx="457201" cy="1143001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14"/>
          <p:cNvSpPr txBox="1"/>
          <p:nvPr/>
        </p:nvSpPr>
        <p:spPr>
          <a:xfrm>
            <a:off x="274320" y="2798642"/>
            <a:ext cx="457201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5" name="Text 15"/>
          <p:cNvSpPr txBox="1"/>
          <p:nvPr/>
        </p:nvSpPr>
        <p:spPr>
          <a:xfrm>
            <a:off x="868679" y="2504371"/>
            <a:ext cx="34290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E293B"/>
                </a:solidFill>
              </a:defRPr>
            </a:lvl1pPr>
          </a:lstStyle>
          <a:p>
            <a:pPr/>
            <a:r>
              <a:t>Algorithm Taxonomy</a:t>
            </a:r>
          </a:p>
        </p:txBody>
      </p:sp>
      <p:sp>
        <p:nvSpPr>
          <p:cNvPr id="46" name="Text 16"/>
          <p:cNvSpPr txBox="1"/>
          <p:nvPr/>
        </p:nvSpPr>
        <p:spPr>
          <a:xfrm>
            <a:off x="868679" y="2990132"/>
            <a:ext cx="342900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5 major families of clustering methods</a:t>
            </a:r>
          </a:p>
        </p:txBody>
      </p:sp>
      <p:sp>
        <p:nvSpPr>
          <p:cNvPr id="47" name="Shape 17"/>
          <p:cNvSpPr/>
          <p:nvPr/>
        </p:nvSpPr>
        <p:spPr>
          <a:xfrm>
            <a:off x="4709159" y="2331720"/>
            <a:ext cx="4160521" cy="1143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" name="Shape 18"/>
          <p:cNvSpPr/>
          <p:nvPr/>
        </p:nvSpPr>
        <p:spPr>
          <a:xfrm>
            <a:off x="4709159" y="2331720"/>
            <a:ext cx="457201" cy="1143001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19"/>
          <p:cNvSpPr txBox="1"/>
          <p:nvPr/>
        </p:nvSpPr>
        <p:spPr>
          <a:xfrm>
            <a:off x="4709159" y="2798642"/>
            <a:ext cx="457201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0" name="Text 20"/>
          <p:cNvSpPr txBox="1"/>
          <p:nvPr/>
        </p:nvSpPr>
        <p:spPr>
          <a:xfrm>
            <a:off x="5303519" y="2504371"/>
            <a:ext cx="34290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E293B"/>
                </a:solidFill>
              </a:defRPr>
            </a:lvl1pPr>
          </a:lstStyle>
          <a:p>
            <a:pPr/>
            <a:r>
              <a:t>Deep-Dive: Key Algorithms</a:t>
            </a:r>
          </a:p>
        </p:txBody>
      </p:sp>
      <p:sp>
        <p:nvSpPr>
          <p:cNvPr id="51" name="Text 21"/>
          <p:cNvSpPr txBox="1"/>
          <p:nvPr/>
        </p:nvSpPr>
        <p:spPr>
          <a:xfrm>
            <a:off x="5303519" y="2990132"/>
            <a:ext cx="342900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K-Means, DBSCAN, Hierarchical, Spectral</a:t>
            </a:r>
          </a:p>
        </p:txBody>
      </p:sp>
      <p:sp>
        <p:nvSpPr>
          <p:cNvPr id="52" name="Shape 22"/>
          <p:cNvSpPr/>
          <p:nvPr/>
        </p:nvSpPr>
        <p:spPr>
          <a:xfrm>
            <a:off x="274319" y="3657600"/>
            <a:ext cx="4160522" cy="1143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" name="Shape 23"/>
          <p:cNvSpPr/>
          <p:nvPr/>
        </p:nvSpPr>
        <p:spPr>
          <a:xfrm>
            <a:off x="274320" y="3657600"/>
            <a:ext cx="457201" cy="1143000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24"/>
          <p:cNvSpPr txBox="1"/>
          <p:nvPr/>
        </p:nvSpPr>
        <p:spPr>
          <a:xfrm>
            <a:off x="274320" y="4124523"/>
            <a:ext cx="457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55" name="Text 25"/>
          <p:cNvSpPr txBox="1"/>
          <p:nvPr/>
        </p:nvSpPr>
        <p:spPr>
          <a:xfrm>
            <a:off x="868679" y="3830251"/>
            <a:ext cx="34290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E293B"/>
                </a:solidFill>
              </a:defRPr>
            </a:lvl1pPr>
          </a:lstStyle>
          <a:p>
            <a:pPr/>
            <a:r>
              <a:t>Comparative Performance</a:t>
            </a:r>
          </a:p>
        </p:txBody>
      </p:sp>
      <p:sp>
        <p:nvSpPr>
          <p:cNvPr id="56" name="Text 26"/>
          <p:cNvSpPr txBox="1"/>
          <p:nvPr/>
        </p:nvSpPr>
        <p:spPr>
          <a:xfrm>
            <a:off x="868679" y="4316012"/>
            <a:ext cx="342900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Metrics, benchmarks, trade-offs</a:t>
            </a:r>
          </a:p>
        </p:txBody>
      </p:sp>
      <p:sp>
        <p:nvSpPr>
          <p:cNvPr id="57" name="Shape 27"/>
          <p:cNvSpPr/>
          <p:nvPr/>
        </p:nvSpPr>
        <p:spPr>
          <a:xfrm>
            <a:off x="4709159" y="3657600"/>
            <a:ext cx="4160521" cy="1143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" name="Shape 28"/>
          <p:cNvSpPr/>
          <p:nvPr/>
        </p:nvSpPr>
        <p:spPr>
          <a:xfrm>
            <a:off x="4709159" y="3657600"/>
            <a:ext cx="457201" cy="1143000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29"/>
          <p:cNvSpPr txBox="1"/>
          <p:nvPr/>
        </p:nvSpPr>
        <p:spPr>
          <a:xfrm>
            <a:off x="4709159" y="4124523"/>
            <a:ext cx="457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60" name="Text 30"/>
          <p:cNvSpPr txBox="1"/>
          <p:nvPr/>
        </p:nvSpPr>
        <p:spPr>
          <a:xfrm>
            <a:off x="5303519" y="3830251"/>
            <a:ext cx="34290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E293B"/>
                </a:solidFill>
              </a:defRPr>
            </a:lvl1pPr>
          </a:lstStyle>
          <a:p>
            <a:pPr/>
            <a:r>
              <a:t>Challenges &amp; Future Directions</a:t>
            </a:r>
          </a:p>
        </p:txBody>
      </p:sp>
      <p:sp>
        <p:nvSpPr>
          <p:cNvPr id="61" name="Text 31"/>
          <p:cNvSpPr txBox="1"/>
          <p:nvPr/>
        </p:nvSpPr>
        <p:spPr>
          <a:xfrm>
            <a:off x="5303519" y="4316012"/>
            <a:ext cx="342900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Open problems and emerging trends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1"/>
          <p:cNvSpPr txBox="1"/>
          <p:nvPr/>
        </p:nvSpPr>
        <p:spPr>
          <a:xfrm>
            <a:off x="411479" y="188076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What is Cluster Analysis?</a:t>
            </a:r>
          </a:p>
        </p:txBody>
      </p:sp>
      <p:sp>
        <p:nvSpPr>
          <p:cNvPr id="65" name="Text 2"/>
          <p:cNvSpPr txBox="1"/>
          <p:nvPr/>
        </p:nvSpPr>
        <p:spPr>
          <a:xfrm>
            <a:off x="411479" y="1095179"/>
            <a:ext cx="832104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300">
                <a:solidFill>
                  <a:srgbClr val="CADCFC"/>
                </a:solidFill>
              </a:defRPr>
            </a:lvl1pPr>
          </a:lstStyle>
          <a:p>
            <a:pPr/>
            <a:r>
              <a:t>Cluster analysis is an unsupervised machine learning technique that partitions a dataset into groups (clusters) such that objects within a cluster are more similar to each other than to those in other clusters — without using predefined labels.</a:t>
            </a:r>
          </a:p>
        </p:txBody>
      </p:sp>
      <p:sp>
        <p:nvSpPr>
          <p:cNvPr id="66" name="Shape 3"/>
          <p:cNvSpPr/>
          <p:nvPr/>
        </p:nvSpPr>
        <p:spPr>
          <a:xfrm>
            <a:off x="274319" y="1920239"/>
            <a:ext cx="4160522" cy="1234441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" name="Shape 4"/>
          <p:cNvSpPr/>
          <p:nvPr/>
        </p:nvSpPr>
        <p:spPr>
          <a:xfrm>
            <a:off x="274319" y="1920239"/>
            <a:ext cx="4160522" cy="4572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5"/>
          <p:cNvSpPr txBox="1"/>
          <p:nvPr/>
        </p:nvSpPr>
        <p:spPr>
          <a:xfrm>
            <a:off x="457200" y="2060886"/>
            <a:ext cx="37490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0D9488"/>
                </a:solidFill>
              </a:defRPr>
            </a:lvl1pPr>
          </a:lstStyle>
          <a:p>
            <a:pPr/>
            <a:r>
              <a:t>Unsupervised</a:t>
            </a:r>
          </a:p>
        </p:txBody>
      </p:sp>
      <p:sp>
        <p:nvSpPr>
          <p:cNvPr id="69" name="Text 6"/>
          <p:cNvSpPr txBox="1"/>
          <p:nvPr/>
        </p:nvSpPr>
        <p:spPr>
          <a:xfrm>
            <a:off x="457200" y="2602914"/>
            <a:ext cx="37490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No labeled training data required. Learns inherent structure.</a:t>
            </a:r>
          </a:p>
        </p:txBody>
      </p:sp>
      <p:sp>
        <p:nvSpPr>
          <p:cNvPr id="70" name="Shape 7"/>
          <p:cNvSpPr/>
          <p:nvPr/>
        </p:nvSpPr>
        <p:spPr>
          <a:xfrm>
            <a:off x="4709159" y="1920239"/>
            <a:ext cx="4160521" cy="1234441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" name="Shape 8"/>
          <p:cNvSpPr/>
          <p:nvPr/>
        </p:nvSpPr>
        <p:spPr>
          <a:xfrm>
            <a:off x="4709159" y="1920239"/>
            <a:ext cx="4160521" cy="4572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9"/>
          <p:cNvSpPr txBox="1"/>
          <p:nvPr/>
        </p:nvSpPr>
        <p:spPr>
          <a:xfrm>
            <a:off x="4892040" y="2060886"/>
            <a:ext cx="374904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0D9488"/>
                </a:solidFill>
              </a:defRPr>
            </a:lvl1pPr>
          </a:lstStyle>
          <a:p>
            <a:pPr/>
            <a:r>
              <a:t>Exploratory</a:t>
            </a:r>
          </a:p>
        </p:txBody>
      </p:sp>
      <p:sp>
        <p:nvSpPr>
          <p:cNvPr id="73" name="Text 10"/>
          <p:cNvSpPr txBox="1"/>
          <p:nvPr/>
        </p:nvSpPr>
        <p:spPr>
          <a:xfrm>
            <a:off x="4892040" y="2520364"/>
            <a:ext cx="374904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Useful for pattern discovery, segmentation, and hypothesis generation.</a:t>
            </a:r>
          </a:p>
        </p:txBody>
      </p:sp>
      <p:sp>
        <p:nvSpPr>
          <p:cNvPr id="74" name="Shape 11"/>
          <p:cNvSpPr/>
          <p:nvPr/>
        </p:nvSpPr>
        <p:spPr>
          <a:xfrm>
            <a:off x="274319" y="3337559"/>
            <a:ext cx="4160522" cy="1234441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" name="Shape 12"/>
          <p:cNvSpPr/>
          <p:nvPr/>
        </p:nvSpPr>
        <p:spPr>
          <a:xfrm>
            <a:off x="274319" y="3337559"/>
            <a:ext cx="4160522" cy="4572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13"/>
          <p:cNvSpPr txBox="1"/>
          <p:nvPr/>
        </p:nvSpPr>
        <p:spPr>
          <a:xfrm>
            <a:off x="457200" y="3478207"/>
            <a:ext cx="374904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0D9488"/>
                </a:solidFill>
              </a:defRPr>
            </a:lvl1pPr>
          </a:lstStyle>
          <a:p>
            <a:pPr/>
            <a:r>
              <a:t>Diverse Methods</a:t>
            </a:r>
          </a:p>
        </p:txBody>
      </p:sp>
      <p:sp>
        <p:nvSpPr>
          <p:cNvPr id="77" name="Text 14"/>
          <p:cNvSpPr txBox="1"/>
          <p:nvPr/>
        </p:nvSpPr>
        <p:spPr>
          <a:xfrm>
            <a:off x="457200" y="3937683"/>
            <a:ext cx="3749040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Centroid-based, density-based, hierarchical, spectral, graph-based.</a:t>
            </a:r>
          </a:p>
        </p:txBody>
      </p:sp>
      <p:sp>
        <p:nvSpPr>
          <p:cNvPr id="78" name="Shape 15"/>
          <p:cNvSpPr/>
          <p:nvPr/>
        </p:nvSpPr>
        <p:spPr>
          <a:xfrm>
            <a:off x="4709159" y="3337559"/>
            <a:ext cx="4160521" cy="1234441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" name="Shape 16"/>
          <p:cNvSpPr/>
          <p:nvPr/>
        </p:nvSpPr>
        <p:spPr>
          <a:xfrm>
            <a:off x="4709159" y="3337559"/>
            <a:ext cx="4160521" cy="4572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7"/>
          <p:cNvSpPr txBox="1"/>
          <p:nvPr/>
        </p:nvSpPr>
        <p:spPr>
          <a:xfrm>
            <a:off x="4892040" y="3478207"/>
            <a:ext cx="37490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0D9488"/>
                </a:solidFill>
              </a:defRPr>
            </a:lvl1pPr>
          </a:lstStyle>
          <a:p>
            <a:pPr/>
            <a:r>
              <a:t>Applications</a:t>
            </a:r>
          </a:p>
        </p:txBody>
      </p:sp>
      <p:sp>
        <p:nvSpPr>
          <p:cNvPr id="81" name="Text 18"/>
          <p:cNvSpPr txBox="1"/>
          <p:nvPr/>
        </p:nvSpPr>
        <p:spPr>
          <a:xfrm>
            <a:off x="4892040" y="3937683"/>
            <a:ext cx="3749041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Healthcare, marketing, bioinformatics, image analysis, NLP &amp; more.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0A234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1"/>
          <p:cNvSpPr txBox="1"/>
          <p:nvPr/>
        </p:nvSpPr>
        <p:spPr>
          <a:xfrm>
            <a:off x="411479" y="188076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Research Papers Overview</a:t>
            </a:r>
          </a:p>
        </p:txBody>
      </p:sp>
      <p:sp>
        <p:nvSpPr>
          <p:cNvPr id="85" name="Shape 2"/>
          <p:cNvSpPr/>
          <p:nvPr/>
        </p:nvSpPr>
        <p:spPr>
          <a:xfrm>
            <a:off x="274320" y="91440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" name="Shape 3"/>
          <p:cNvSpPr/>
          <p:nvPr/>
        </p:nvSpPr>
        <p:spPr>
          <a:xfrm>
            <a:off x="274319" y="914400"/>
            <a:ext cx="502921" cy="566928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4"/>
          <p:cNvSpPr txBox="1"/>
          <p:nvPr/>
        </p:nvSpPr>
        <p:spPr>
          <a:xfrm>
            <a:off x="274319" y="1130730"/>
            <a:ext cx="5029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88" name="Text 5"/>
          <p:cNvSpPr txBox="1"/>
          <p:nvPr/>
        </p:nvSpPr>
        <p:spPr>
          <a:xfrm>
            <a:off x="960119" y="984426"/>
            <a:ext cx="48463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E293B"/>
                </a:solidFill>
              </a:defRPr>
            </a:lvl1pPr>
          </a:lstStyle>
          <a:p>
            <a:pPr/>
            <a:r>
              <a:t>A Rapid Review of Clustering Algorithms</a:t>
            </a:r>
          </a:p>
        </p:txBody>
      </p:sp>
      <p:sp>
        <p:nvSpPr>
          <p:cNvPr id="89" name="Text 6"/>
          <p:cNvSpPr txBox="1"/>
          <p:nvPr/>
        </p:nvSpPr>
        <p:spPr>
          <a:xfrm>
            <a:off x="960119" y="1213779"/>
            <a:ext cx="283464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Yin et al., arXiv 2024</a:t>
            </a:r>
          </a:p>
        </p:txBody>
      </p:sp>
      <p:sp>
        <p:nvSpPr>
          <p:cNvPr id="90" name="Text 7"/>
          <p:cNvSpPr txBox="1"/>
          <p:nvPr/>
        </p:nvSpPr>
        <p:spPr>
          <a:xfrm>
            <a:off x="5989320" y="1094907"/>
            <a:ext cx="274320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065A82"/>
                </a:solidFill>
              </a:defRPr>
            </a:lvl1pPr>
          </a:lstStyle>
          <a:p>
            <a:pPr/>
            <a:r>
              <a:t>Review — 5 dimensions taxonomy</a:t>
            </a:r>
          </a:p>
        </p:txBody>
      </p:sp>
      <p:sp>
        <p:nvSpPr>
          <p:cNvPr id="91" name="Shape 8"/>
          <p:cNvSpPr/>
          <p:nvPr/>
        </p:nvSpPr>
        <p:spPr>
          <a:xfrm>
            <a:off x="274320" y="1581911"/>
            <a:ext cx="8595360" cy="566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" name="Shape 9"/>
          <p:cNvSpPr/>
          <p:nvPr/>
        </p:nvSpPr>
        <p:spPr>
          <a:xfrm>
            <a:off x="274319" y="1581911"/>
            <a:ext cx="502921" cy="566929"/>
          </a:xfrm>
          <a:prstGeom prst="rect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10"/>
          <p:cNvSpPr txBox="1"/>
          <p:nvPr/>
        </p:nvSpPr>
        <p:spPr>
          <a:xfrm>
            <a:off x="274319" y="1798242"/>
            <a:ext cx="5029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94" name="Text 11"/>
          <p:cNvSpPr txBox="1"/>
          <p:nvPr/>
        </p:nvSpPr>
        <p:spPr>
          <a:xfrm>
            <a:off x="960119" y="1651938"/>
            <a:ext cx="48463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E293B"/>
                </a:solidFill>
              </a:defRPr>
            </a:lvl1pPr>
          </a:lstStyle>
          <a:p>
            <a:pPr/>
            <a:r>
              <a:t>Comprehensive Analysis of Clustering Algorithms</a:t>
            </a:r>
          </a:p>
        </p:txBody>
      </p:sp>
      <p:sp>
        <p:nvSpPr>
          <p:cNvPr id="95" name="Text 12"/>
          <p:cNvSpPr txBox="1"/>
          <p:nvPr/>
        </p:nvSpPr>
        <p:spPr>
          <a:xfrm>
            <a:off x="960119" y="1881291"/>
            <a:ext cx="283464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PeerJ Comp. Sci., 2024</a:t>
            </a:r>
          </a:p>
        </p:txBody>
      </p:sp>
      <p:sp>
        <p:nvSpPr>
          <p:cNvPr id="96" name="Text 13"/>
          <p:cNvSpPr txBox="1"/>
          <p:nvPr/>
        </p:nvSpPr>
        <p:spPr>
          <a:xfrm>
            <a:off x="5989320" y="1762419"/>
            <a:ext cx="274320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C7293"/>
                </a:solidFill>
              </a:defRPr>
            </a:lvl1pPr>
          </a:lstStyle>
          <a:p>
            <a:pPr/>
            <a:r>
              <a:t>Limitations &amp; innovations</a:t>
            </a:r>
          </a:p>
        </p:txBody>
      </p:sp>
      <p:sp>
        <p:nvSpPr>
          <p:cNvPr id="97" name="Shape 14"/>
          <p:cNvSpPr/>
          <p:nvPr/>
        </p:nvSpPr>
        <p:spPr>
          <a:xfrm>
            <a:off x="274320" y="2249423"/>
            <a:ext cx="8595360" cy="566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" name="Shape 15"/>
          <p:cNvSpPr/>
          <p:nvPr/>
        </p:nvSpPr>
        <p:spPr>
          <a:xfrm>
            <a:off x="274319" y="2249423"/>
            <a:ext cx="502921" cy="566929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16"/>
          <p:cNvSpPr txBox="1"/>
          <p:nvPr/>
        </p:nvSpPr>
        <p:spPr>
          <a:xfrm>
            <a:off x="274319" y="2465754"/>
            <a:ext cx="5029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100" name="Text 17"/>
          <p:cNvSpPr txBox="1"/>
          <p:nvPr/>
        </p:nvSpPr>
        <p:spPr>
          <a:xfrm>
            <a:off x="960119" y="2319450"/>
            <a:ext cx="48463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E293B"/>
                </a:solidFill>
              </a:defRPr>
            </a:lvl1pPr>
          </a:lstStyle>
          <a:p>
            <a:pPr/>
            <a:r>
              <a:t>Comparative Analysis on High-Dimensional Data</a:t>
            </a:r>
          </a:p>
        </p:txBody>
      </p:sp>
      <p:sp>
        <p:nvSpPr>
          <p:cNvPr id="101" name="Text 18"/>
          <p:cNvSpPr txBox="1"/>
          <p:nvPr/>
        </p:nvSpPr>
        <p:spPr>
          <a:xfrm>
            <a:off x="960119" y="2548803"/>
            <a:ext cx="283464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arXiv 2025</a:t>
            </a:r>
          </a:p>
        </p:txBody>
      </p:sp>
      <p:sp>
        <p:nvSpPr>
          <p:cNvPr id="102" name="Text 19"/>
          <p:cNvSpPr txBox="1"/>
          <p:nvPr/>
        </p:nvSpPr>
        <p:spPr>
          <a:xfrm>
            <a:off x="5989320" y="2429931"/>
            <a:ext cx="274320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0D9488"/>
                </a:solidFill>
              </a:defRPr>
            </a:lvl1pPr>
          </a:lstStyle>
          <a:p>
            <a:pPr/>
            <a:r>
              <a:t>K-Means vs DBSCAN vs Spectral</a:t>
            </a:r>
          </a:p>
        </p:txBody>
      </p:sp>
      <p:sp>
        <p:nvSpPr>
          <p:cNvPr id="103" name="Shape 20"/>
          <p:cNvSpPr/>
          <p:nvPr/>
        </p:nvSpPr>
        <p:spPr>
          <a:xfrm>
            <a:off x="274320" y="2916935"/>
            <a:ext cx="8595360" cy="566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" name="Shape 21"/>
          <p:cNvSpPr/>
          <p:nvPr/>
        </p:nvSpPr>
        <p:spPr>
          <a:xfrm>
            <a:off x="274319" y="2916935"/>
            <a:ext cx="502921" cy="566929"/>
          </a:xfrm>
          <a:prstGeom prst="rect">
            <a:avLst/>
          </a:prstGeom>
          <a:solidFill>
            <a:srgbClr val="1D7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22"/>
          <p:cNvSpPr txBox="1"/>
          <p:nvPr/>
        </p:nvSpPr>
        <p:spPr>
          <a:xfrm>
            <a:off x="274319" y="3133266"/>
            <a:ext cx="5029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106" name="Text 23"/>
          <p:cNvSpPr txBox="1"/>
          <p:nvPr/>
        </p:nvSpPr>
        <p:spPr>
          <a:xfrm>
            <a:off x="960119" y="2986962"/>
            <a:ext cx="48463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E293B"/>
                </a:solidFill>
              </a:defRPr>
            </a:lvl1pPr>
          </a:lstStyle>
          <a:p>
            <a:pPr/>
            <a:r>
              <a:t>Spectral Clustering with Graph Structure Learning</a:t>
            </a:r>
          </a:p>
        </p:txBody>
      </p:sp>
      <p:sp>
        <p:nvSpPr>
          <p:cNvPr id="107" name="Text 24"/>
          <p:cNvSpPr txBox="1"/>
          <p:nvPr/>
        </p:nvSpPr>
        <p:spPr>
          <a:xfrm>
            <a:off x="960119" y="3216315"/>
            <a:ext cx="283464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arXiv 2025</a:t>
            </a:r>
          </a:p>
        </p:txBody>
      </p:sp>
      <p:sp>
        <p:nvSpPr>
          <p:cNvPr id="108" name="Text 25"/>
          <p:cNvSpPr txBox="1"/>
          <p:nvPr/>
        </p:nvSpPr>
        <p:spPr>
          <a:xfrm>
            <a:off x="5989320" y="3097443"/>
            <a:ext cx="274320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D7A5F"/>
                </a:solidFill>
              </a:defRPr>
            </a:lvl1pPr>
          </a:lstStyle>
          <a:p>
            <a:pPr/>
            <a:r>
              <a:t>Spectral &amp; GSL deep survey</a:t>
            </a:r>
          </a:p>
        </p:txBody>
      </p:sp>
      <p:sp>
        <p:nvSpPr>
          <p:cNvPr id="109" name="Shape 26"/>
          <p:cNvSpPr/>
          <p:nvPr/>
        </p:nvSpPr>
        <p:spPr>
          <a:xfrm>
            <a:off x="274320" y="3584447"/>
            <a:ext cx="8595360" cy="566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" name="Shape 27"/>
          <p:cNvSpPr/>
          <p:nvPr/>
        </p:nvSpPr>
        <p:spPr>
          <a:xfrm>
            <a:off x="274319" y="3584447"/>
            <a:ext cx="502921" cy="566929"/>
          </a:xfrm>
          <a:prstGeom prst="rect">
            <a:avLst/>
          </a:prstGeom>
          <a:solidFill>
            <a:srgbClr val="0A3D6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28"/>
          <p:cNvSpPr txBox="1"/>
          <p:nvPr/>
        </p:nvSpPr>
        <p:spPr>
          <a:xfrm>
            <a:off x="274319" y="3800778"/>
            <a:ext cx="5029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P5</a:t>
            </a:r>
          </a:p>
        </p:txBody>
      </p:sp>
      <p:sp>
        <p:nvSpPr>
          <p:cNvPr id="112" name="Text 29"/>
          <p:cNvSpPr txBox="1"/>
          <p:nvPr/>
        </p:nvSpPr>
        <p:spPr>
          <a:xfrm>
            <a:off x="960119" y="3654474"/>
            <a:ext cx="48463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E293B"/>
                </a:solidFill>
              </a:defRPr>
            </a:lvl1pPr>
          </a:lstStyle>
          <a:p>
            <a:pPr/>
            <a:r>
              <a:t>Advanced Graph Clustering Methods</a:t>
            </a:r>
          </a:p>
        </p:txBody>
      </p:sp>
      <p:sp>
        <p:nvSpPr>
          <p:cNvPr id="113" name="Text 30"/>
          <p:cNvSpPr txBox="1"/>
          <p:nvPr/>
        </p:nvSpPr>
        <p:spPr>
          <a:xfrm>
            <a:off x="960119" y="3883827"/>
            <a:ext cx="283464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Watteau et al., arXiv 2024</a:t>
            </a:r>
          </a:p>
        </p:txBody>
      </p:sp>
      <p:sp>
        <p:nvSpPr>
          <p:cNvPr id="114" name="Text 31"/>
          <p:cNvSpPr txBox="1"/>
          <p:nvPr/>
        </p:nvSpPr>
        <p:spPr>
          <a:xfrm>
            <a:off x="5989320" y="3764955"/>
            <a:ext cx="274320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0A3D62"/>
                </a:solidFill>
              </a:defRPr>
            </a:lvl1pPr>
          </a:lstStyle>
          <a:p>
            <a:pPr/>
            <a:r>
              <a:t>Traditional + deep graph methods</a:t>
            </a:r>
          </a:p>
        </p:txBody>
      </p:sp>
      <p:sp>
        <p:nvSpPr>
          <p:cNvPr id="115" name="Shape 32"/>
          <p:cNvSpPr/>
          <p:nvPr/>
        </p:nvSpPr>
        <p:spPr>
          <a:xfrm>
            <a:off x="274320" y="4251959"/>
            <a:ext cx="8595360" cy="566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" name="Shape 33"/>
          <p:cNvSpPr/>
          <p:nvPr/>
        </p:nvSpPr>
        <p:spPr>
          <a:xfrm>
            <a:off x="274319" y="4251959"/>
            <a:ext cx="502921" cy="566929"/>
          </a:xfrm>
          <a:prstGeom prst="rect">
            <a:avLst/>
          </a:prstGeom>
          <a:solidFill>
            <a:srgbClr val="1A527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34"/>
          <p:cNvSpPr txBox="1"/>
          <p:nvPr/>
        </p:nvSpPr>
        <p:spPr>
          <a:xfrm>
            <a:off x="274319" y="4468290"/>
            <a:ext cx="5029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P6</a:t>
            </a:r>
          </a:p>
        </p:txBody>
      </p:sp>
      <p:sp>
        <p:nvSpPr>
          <p:cNvPr id="118" name="Text 35"/>
          <p:cNvSpPr txBox="1"/>
          <p:nvPr/>
        </p:nvSpPr>
        <p:spPr>
          <a:xfrm>
            <a:off x="960119" y="4321986"/>
            <a:ext cx="48463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E293B"/>
                </a:solidFill>
              </a:defRPr>
            </a:lvl1pPr>
          </a:lstStyle>
          <a:p>
            <a:pPr/>
            <a:r>
              <a:t>Comparative Analysis: DBSCAN, K-Means, Agglom.</a:t>
            </a:r>
          </a:p>
        </p:txBody>
      </p:sp>
      <p:sp>
        <p:nvSpPr>
          <p:cNvPr id="119" name="Text 36"/>
          <p:cNvSpPr txBox="1"/>
          <p:nvPr/>
        </p:nvSpPr>
        <p:spPr>
          <a:xfrm>
            <a:off x="960119" y="4551339"/>
            <a:ext cx="283464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Atlantis Press, 2024</a:t>
            </a:r>
          </a:p>
        </p:txBody>
      </p:sp>
      <p:sp>
        <p:nvSpPr>
          <p:cNvPr id="120" name="Text 37"/>
          <p:cNvSpPr txBox="1"/>
          <p:nvPr/>
        </p:nvSpPr>
        <p:spPr>
          <a:xfrm>
            <a:off x="5989320" y="4432467"/>
            <a:ext cx="274320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A5276"/>
                </a:solidFill>
              </a:defRPr>
            </a:lvl1pPr>
          </a:lstStyle>
          <a:p>
            <a:pPr/>
            <a:r>
              <a:t>Silhouette score on geo-data</a:t>
            </a:r>
          </a:p>
        </p:txBody>
      </p:sp>
      <p:sp>
        <p:nvSpPr>
          <p:cNvPr id="121" name="Text 38"/>
          <p:cNvSpPr txBox="1"/>
          <p:nvPr/>
        </p:nvSpPr>
        <p:spPr>
          <a:xfrm>
            <a:off x="320040" y="4789083"/>
            <a:ext cx="850392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900">
                <a:solidFill>
                  <a:srgbClr val="64748B"/>
                </a:solidFill>
              </a:defRPr>
            </a:lvl1pPr>
          </a:lstStyle>
          <a:p>
            <a:pPr/>
            <a:r>
              <a:t>All papers are freely accessible via arXiv, PubMed Central, or open-access publishers.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1"/>
          <p:cNvSpPr txBox="1"/>
          <p:nvPr/>
        </p:nvSpPr>
        <p:spPr>
          <a:xfrm>
            <a:off x="411479" y="188076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Algorithm Taxonomy</a:t>
            </a:r>
          </a:p>
        </p:txBody>
      </p:sp>
      <p:sp>
        <p:nvSpPr>
          <p:cNvPr id="125" name="Shape 2"/>
          <p:cNvSpPr/>
          <p:nvPr/>
        </p:nvSpPr>
        <p:spPr>
          <a:xfrm>
            <a:off x="274319" y="960119"/>
            <a:ext cx="2788922" cy="1463042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" name="Shape 3"/>
          <p:cNvSpPr/>
          <p:nvPr/>
        </p:nvSpPr>
        <p:spPr>
          <a:xfrm>
            <a:off x="274319" y="960119"/>
            <a:ext cx="2788922" cy="45721"/>
          </a:xfrm>
          <a:prstGeom prst="rect">
            <a:avLst/>
          </a:prstGeom>
          <a:solidFill>
            <a:srgbClr val="1D7A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4"/>
          <p:cNvSpPr txBox="1"/>
          <p:nvPr/>
        </p:nvSpPr>
        <p:spPr>
          <a:xfrm>
            <a:off x="429768" y="1082855"/>
            <a:ext cx="251460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D7A8C"/>
                </a:solidFill>
              </a:defRPr>
            </a:lvl1pPr>
          </a:lstStyle>
          <a:p>
            <a:pPr/>
            <a:r>
              <a:t>Centroid-Based</a:t>
            </a:r>
          </a:p>
        </p:txBody>
      </p:sp>
      <p:sp>
        <p:nvSpPr>
          <p:cNvPr id="128" name="Text 5"/>
          <p:cNvSpPr txBox="1"/>
          <p:nvPr/>
        </p:nvSpPr>
        <p:spPr>
          <a:xfrm>
            <a:off x="429768" y="1369227"/>
            <a:ext cx="251460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900">
                <a:solidFill>
                  <a:srgbClr val="CADCFC"/>
                </a:solidFill>
              </a:defRPr>
            </a:lvl1pPr>
          </a:lstStyle>
          <a:p>
            <a:pPr/>
            <a:r>
              <a:t>e.g. K-Means, K-Medoids</a:t>
            </a:r>
          </a:p>
        </p:txBody>
      </p:sp>
      <p:sp>
        <p:nvSpPr>
          <p:cNvPr id="129" name="Text 6"/>
          <p:cNvSpPr txBox="1"/>
          <p:nvPr/>
        </p:nvSpPr>
        <p:spPr>
          <a:xfrm>
            <a:off x="429768" y="1619557"/>
            <a:ext cx="2514600" cy="235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86EFAC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Fast, scalable</a:t>
            </a:r>
          </a:p>
        </p:txBody>
      </p:sp>
      <p:sp>
        <p:nvSpPr>
          <p:cNvPr id="130" name="Text 7"/>
          <p:cNvSpPr txBox="1"/>
          <p:nvPr/>
        </p:nvSpPr>
        <p:spPr>
          <a:xfrm>
            <a:off x="429768" y="1981833"/>
            <a:ext cx="2514600" cy="233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FCA5A5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✗ </a:t>
            </a:r>
            <a:r>
              <a:t>Needs k, globular shape assumption</a:t>
            </a:r>
          </a:p>
        </p:txBody>
      </p:sp>
      <p:sp>
        <p:nvSpPr>
          <p:cNvPr id="131" name="Shape 8"/>
          <p:cNvSpPr/>
          <p:nvPr/>
        </p:nvSpPr>
        <p:spPr>
          <a:xfrm>
            <a:off x="3154679" y="960119"/>
            <a:ext cx="2788921" cy="1463042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" name="Shape 9"/>
          <p:cNvSpPr/>
          <p:nvPr/>
        </p:nvSpPr>
        <p:spPr>
          <a:xfrm>
            <a:off x="3154679" y="960119"/>
            <a:ext cx="2788921" cy="45721"/>
          </a:xfrm>
          <a:prstGeom prst="rect">
            <a:avLst/>
          </a:prstGeom>
          <a:solidFill>
            <a:srgbClr val="0E66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10"/>
          <p:cNvSpPr txBox="1"/>
          <p:nvPr/>
        </p:nvSpPr>
        <p:spPr>
          <a:xfrm>
            <a:off x="3310128" y="1082855"/>
            <a:ext cx="25146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E6655"/>
                </a:solidFill>
              </a:defRPr>
            </a:lvl1pPr>
          </a:lstStyle>
          <a:p>
            <a:pPr/>
            <a:r>
              <a:t>Hierarchical</a:t>
            </a:r>
          </a:p>
        </p:txBody>
      </p:sp>
      <p:sp>
        <p:nvSpPr>
          <p:cNvPr id="134" name="Text 11"/>
          <p:cNvSpPr txBox="1"/>
          <p:nvPr/>
        </p:nvSpPr>
        <p:spPr>
          <a:xfrm>
            <a:off x="3310128" y="1369227"/>
            <a:ext cx="25146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900">
                <a:solidFill>
                  <a:srgbClr val="CADCFC"/>
                </a:solidFill>
              </a:defRPr>
            </a:lvl1pPr>
          </a:lstStyle>
          <a:p>
            <a:pPr/>
            <a:r>
              <a:t>e.g. Agglomerative, Divisive</a:t>
            </a:r>
          </a:p>
        </p:txBody>
      </p:sp>
      <p:sp>
        <p:nvSpPr>
          <p:cNvPr id="135" name="Text 12"/>
          <p:cNvSpPr txBox="1"/>
          <p:nvPr/>
        </p:nvSpPr>
        <p:spPr>
          <a:xfrm>
            <a:off x="3310128" y="1619557"/>
            <a:ext cx="2514601" cy="235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86EFAC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No need to pre-specify k</a:t>
            </a:r>
          </a:p>
        </p:txBody>
      </p:sp>
      <p:sp>
        <p:nvSpPr>
          <p:cNvPr id="136" name="Text 13"/>
          <p:cNvSpPr txBox="1"/>
          <p:nvPr/>
        </p:nvSpPr>
        <p:spPr>
          <a:xfrm>
            <a:off x="3310128" y="1981833"/>
            <a:ext cx="2514601" cy="233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FCA5A5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✗ </a:t>
            </a:r>
            <a:r>
              <a:t>Slow O(n³), no reassignment</a:t>
            </a:r>
          </a:p>
        </p:txBody>
      </p:sp>
      <p:sp>
        <p:nvSpPr>
          <p:cNvPr id="137" name="Shape 14"/>
          <p:cNvSpPr/>
          <p:nvPr/>
        </p:nvSpPr>
        <p:spPr>
          <a:xfrm>
            <a:off x="6035040" y="960119"/>
            <a:ext cx="2788921" cy="1463042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" name="Shape 15"/>
          <p:cNvSpPr/>
          <p:nvPr/>
        </p:nvSpPr>
        <p:spPr>
          <a:xfrm>
            <a:off x="6035040" y="960119"/>
            <a:ext cx="2788921" cy="45721"/>
          </a:xfrm>
          <a:prstGeom prst="rect">
            <a:avLst/>
          </a:prstGeom>
          <a:solidFill>
            <a:srgbClr val="1F618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16"/>
          <p:cNvSpPr txBox="1"/>
          <p:nvPr/>
        </p:nvSpPr>
        <p:spPr>
          <a:xfrm>
            <a:off x="6190487" y="1082855"/>
            <a:ext cx="25146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618D"/>
                </a:solidFill>
              </a:defRPr>
            </a:lvl1pPr>
          </a:lstStyle>
          <a:p>
            <a:pPr/>
            <a:r>
              <a:t>Density-Based</a:t>
            </a:r>
          </a:p>
        </p:txBody>
      </p:sp>
      <p:sp>
        <p:nvSpPr>
          <p:cNvPr id="140" name="Text 17"/>
          <p:cNvSpPr txBox="1"/>
          <p:nvPr/>
        </p:nvSpPr>
        <p:spPr>
          <a:xfrm>
            <a:off x="6190487" y="1369227"/>
            <a:ext cx="25146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900">
                <a:solidFill>
                  <a:srgbClr val="CADCFC"/>
                </a:solidFill>
              </a:defRPr>
            </a:lvl1pPr>
          </a:lstStyle>
          <a:p>
            <a:pPr/>
            <a:r>
              <a:t>e.g. DBSCAN, HDBSCAN, OPTICS</a:t>
            </a:r>
          </a:p>
        </p:txBody>
      </p:sp>
      <p:sp>
        <p:nvSpPr>
          <p:cNvPr id="141" name="Text 18"/>
          <p:cNvSpPr txBox="1"/>
          <p:nvPr/>
        </p:nvSpPr>
        <p:spPr>
          <a:xfrm>
            <a:off x="6190487" y="1619557"/>
            <a:ext cx="2514601" cy="235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86EFAC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Arbitrary shapes, noise handling</a:t>
            </a:r>
          </a:p>
        </p:txBody>
      </p:sp>
      <p:sp>
        <p:nvSpPr>
          <p:cNvPr id="142" name="Text 19"/>
          <p:cNvSpPr txBox="1"/>
          <p:nvPr/>
        </p:nvSpPr>
        <p:spPr>
          <a:xfrm>
            <a:off x="6190487" y="1981833"/>
            <a:ext cx="2514601" cy="233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FCA5A5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✗ </a:t>
            </a:r>
            <a:r>
              <a:t>Struggles with varying densities</a:t>
            </a:r>
          </a:p>
        </p:txBody>
      </p:sp>
      <p:sp>
        <p:nvSpPr>
          <p:cNvPr id="143" name="Shape 20"/>
          <p:cNvSpPr/>
          <p:nvPr/>
        </p:nvSpPr>
        <p:spPr>
          <a:xfrm>
            <a:off x="1325879" y="2606039"/>
            <a:ext cx="4160522" cy="1463041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" name="Shape 21"/>
          <p:cNvSpPr/>
          <p:nvPr/>
        </p:nvSpPr>
        <p:spPr>
          <a:xfrm>
            <a:off x="1325879" y="2606039"/>
            <a:ext cx="4160522" cy="45721"/>
          </a:xfrm>
          <a:prstGeom prst="rect">
            <a:avLst/>
          </a:prstGeom>
          <a:solidFill>
            <a:srgbClr val="6C348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22"/>
          <p:cNvSpPr txBox="1"/>
          <p:nvPr/>
        </p:nvSpPr>
        <p:spPr>
          <a:xfrm>
            <a:off x="1481327" y="2728775"/>
            <a:ext cx="388620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6C3483"/>
                </a:solidFill>
              </a:defRPr>
            </a:lvl1pPr>
          </a:lstStyle>
          <a:p>
            <a:pPr/>
            <a:r>
              <a:t>Distribution-Based</a:t>
            </a:r>
          </a:p>
        </p:txBody>
      </p:sp>
      <p:sp>
        <p:nvSpPr>
          <p:cNvPr id="146" name="Text 23"/>
          <p:cNvSpPr txBox="1"/>
          <p:nvPr/>
        </p:nvSpPr>
        <p:spPr>
          <a:xfrm>
            <a:off x="1481327" y="3015147"/>
            <a:ext cx="388620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900">
                <a:solidFill>
                  <a:srgbClr val="CADCFC"/>
                </a:solidFill>
              </a:defRPr>
            </a:lvl1pPr>
          </a:lstStyle>
          <a:p>
            <a:pPr/>
            <a:r>
              <a:t>e.g. Gaussian Mixture Models</a:t>
            </a:r>
          </a:p>
        </p:txBody>
      </p:sp>
      <p:sp>
        <p:nvSpPr>
          <p:cNvPr id="147" name="Text 24"/>
          <p:cNvSpPr txBox="1"/>
          <p:nvPr/>
        </p:nvSpPr>
        <p:spPr>
          <a:xfrm>
            <a:off x="1481327" y="3265477"/>
            <a:ext cx="3886202" cy="235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86EFAC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Soft assignments, probabilistic</a:t>
            </a:r>
          </a:p>
        </p:txBody>
      </p:sp>
      <p:sp>
        <p:nvSpPr>
          <p:cNvPr id="148" name="Text 25"/>
          <p:cNvSpPr txBox="1"/>
          <p:nvPr/>
        </p:nvSpPr>
        <p:spPr>
          <a:xfrm>
            <a:off x="1481327" y="3627754"/>
            <a:ext cx="3886202" cy="233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FCA5A5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✗ </a:t>
            </a:r>
            <a:r>
              <a:t>Convergence issues, assumes distribution</a:t>
            </a:r>
          </a:p>
        </p:txBody>
      </p:sp>
      <p:sp>
        <p:nvSpPr>
          <p:cNvPr id="149" name="Shape 26"/>
          <p:cNvSpPr/>
          <p:nvPr/>
        </p:nvSpPr>
        <p:spPr>
          <a:xfrm>
            <a:off x="4754879" y="2606039"/>
            <a:ext cx="4160521" cy="1463041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" name="Shape 27"/>
          <p:cNvSpPr/>
          <p:nvPr/>
        </p:nvSpPr>
        <p:spPr>
          <a:xfrm>
            <a:off x="4754879" y="2606039"/>
            <a:ext cx="4160521" cy="45721"/>
          </a:xfrm>
          <a:prstGeom prst="rect">
            <a:avLst/>
          </a:prstGeom>
          <a:solidFill>
            <a:srgbClr val="78421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28"/>
          <p:cNvSpPr txBox="1"/>
          <p:nvPr/>
        </p:nvSpPr>
        <p:spPr>
          <a:xfrm>
            <a:off x="4910328" y="2728775"/>
            <a:ext cx="38862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784212"/>
                </a:solidFill>
              </a:defRPr>
            </a:lvl1pPr>
          </a:lstStyle>
          <a:p>
            <a:pPr/>
            <a:r>
              <a:t>Graph / Spectral</a:t>
            </a:r>
          </a:p>
        </p:txBody>
      </p:sp>
      <p:sp>
        <p:nvSpPr>
          <p:cNvPr id="152" name="Text 29"/>
          <p:cNvSpPr txBox="1"/>
          <p:nvPr/>
        </p:nvSpPr>
        <p:spPr>
          <a:xfrm>
            <a:off x="4910328" y="3015147"/>
            <a:ext cx="38862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900">
                <a:solidFill>
                  <a:srgbClr val="CADCFC"/>
                </a:solidFill>
              </a:defRPr>
            </a:lvl1pPr>
          </a:lstStyle>
          <a:p>
            <a:pPr/>
            <a:r>
              <a:t>e.g. Spectral, Leiden, GNN</a:t>
            </a:r>
          </a:p>
        </p:txBody>
      </p:sp>
      <p:sp>
        <p:nvSpPr>
          <p:cNvPr id="153" name="Text 30"/>
          <p:cNvSpPr txBox="1"/>
          <p:nvPr/>
        </p:nvSpPr>
        <p:spPr>
          <a:xfrm>
            <a:off x="4910328" y="3265477"/>
            <a:ext cx="3886201" cy="235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86EFAC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Complex manifold structures</a:t>
            </a:r>
          </a:p>
        </p:txBody>
      </p:sp>
      <p:sp>
        <p:nvSpPr>
          <p:cNvPr id="154" name="Text 31"/>
          <p:cNvSpPr txBox="1"/>
          <p:nvPr/>
        </p:nvSpPr>
        <p:spPr>
          <a:xfrm>
            <a:off x="4910328" y="3627754"/>
            <a:ext cx="3886201" cy="233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FCA5A5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✗ </a:t>
            </a:r>
            <a:r>
              <a:t>High compute for large graphs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D7A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1"/>
          <p:cNvSpPr txBox="1"/>
          <p:nvPr/>
        </p:nvSpPr>
        <p:spPr>
          <a:xfrm>
            <a:off x="411479" y="188076"/>
            <a:ext cx="53949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K-Means Clustering</a:t>
            </a:r>
          </a:p>
        </p:txBody>
      </p:sp>
      <p:sp>
        <p:nvSpPr>
          <p:cNvPr id="158" name="Text 2"/>
          <p:cNvSpPr txBox="1"/>
          <p:nvPr/>
        </p:nvSpPr>
        <p:spPr>
          <a:xfrm>
            <a:off x="6903720" y="271194"/>
            <a:ext cx="192023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BEF0F5"/>
                </a:solidFill>
              </a:defRPr>
            </a:lvl1pPr>
          </a:lstStyle>
          <a:p>
            <a:pPr/>
            <a:r>
              <a:t>Centroid-Based</a:t>
            </a:r>
          </a:p>
        </p:txBody>
      </p:sp>
      <p:sp>
        <p:nvSpPr>
          <p:cNvPr id="159" name="Shape 3"/>
          <p:cNvSpPr/>
          <p:nvPr/>
        </p:nvSpPr>
        <p:spPr>
          <a:xfrm>
            <a:off x="274319" y="914400"/>
            <a:ext cx="4846322" cy="38404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" name="Text 4"/>
          <p:cNvSpPr txBox="1"/>
          <p:nvPr/>
        </p:nvSpPr>
        <p:spPr>
          <a:xfrm>
            <a:off x="502920" y="1025460"/>
            <a:ext cx="438912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D7A8C"/>
                </a:solidFill>
              </a:defRPr>
            </a:lvl1pPr>
          </a:lstStyle>
          <a:p>
            <a:pPr/>
            <a:r>
              <a:t>How It Works</a:t>
            </a:r>
          </a:p>
        </p:txBody>
      </p:sp>
      <p:sp>
        <p:nvSpPr>
          <p:cNvPr id="161" name="Text 5"/>
          <p:cNvSpPr txBox="1"/>
          <p:nvPr/>
        </p:nvSpPr>
        <p:spPr>
          <a:xfrm>
            <a:off x="502920" y="1542210"/>
            <a:ext cx="43891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</a:defRPr>
            </a:lvl1pPr>
          </a:lstStyle>
          <a:p>
            <a:pPr/>
            <a:r>
              <a:t>1  Choose k (number of clusters)</a:t>
            </a:r>
          </a:p>
        </p:txBody>
      </p:sp>
      <p:sp>
        <p:nvSpPr>
          <p:cNvPr id="162" name="Text 6"/>
          <p:cNvSpPr txBox="1"/>
          <p:nvPr/>
        </p:nvSpPr>
        <p:spPr>
          <a:xfrm>
            <a:off x="502920" y="2045130"/>
            <a:ext cx="43891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</a:defRPr>
            </a:lvl1pPr>
          </a:lstStyle>
          <a:p>
            <a:pPr/>
            <a:r>
              <a:t>2  Randomly initialize k centroids</a:t>
            </a:r>
          </a:p>
        </p:txBody>
      </p:sp>
      <p:sp>
        <p:nvSpPr>
          <p:cNvPr id="163" name="Text 7"/>
          <p:cNvSpPr txBox="1"/>
          <p:nvPr/>
        </p:nvSpPr>
        <p:spPr>
          <a:xfrm>
            <a:off x="502920" y="2548050"/>
            <a:ext cx="43891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</a:defRPr>
            </a:lvl1pPr>
          </a:lstStyle>
          <a:p>
            <a:pPr/>
            <a:r>
              <a:t>3  Assign each point to nearest centroid</a:t>
            </a:r>
          </a:p>
        </p:txBody>
      </p:sp>
      <p:sp>
        <p:nvSpPr>
          <p:cNvPr id="164" name="Text 8"/>
          <p:cNvSpPr txBox="1"/>
          <p:nvPr/>
        </p:nvSpPr>
        <p:spPr>
          <a:xfrm>
            <a:off x="502920" y="3050970"/>
            <a:ext cx="43891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</a:defRPr>
            </a:lvl1pPr>
          </a:lstStyle>
          <a:p>
            <a:pPr/>
            <a:r>
              <a:t>4  Recalculate centroids as cluster means</a:t>
            </a:r>
          </a:p>
        </p:txBody>
      </p:sp>
      <p:sp>
        <p:nvSpPr>
          <p:cNvPr id="165" name="Text 9"/>
          <p:cNvSpPr txBox="1"/>
          <p:nvPr/>
        </p:nvSpPr>
        <p:spPr>
          <a:xfrm>
            <a:off x="502920" y="3553890"/>
            <a:ext cx="43891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</a:defRPr>
            </a:lvl1pPr>
          </a:lstStyle>
          <a:p>
            <a:pPr/>
            <a:r>
              <a:t>5  Repeat steps 3–4 until convergence</a:t>
            </a:r>
          </a:p>
        </p:txBody>
      </p:sp>
      <p:sp>
        <p:nvSpPr>
          <p:cNvPr id="166" name="Text 10"/>
          <p:cNvSpPr txBox="1"/>
          <p:nvPr/>
        </p:nvSpPr>
        <p:spPr>
          <a:xfrm>
            <a:off x="502920" y="4206284"/>
            <a:ext cx="438912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64748B"/>
                </a:solidFill>
              </a:defRPr>
            </a:lvl1pPr>
          </a:lstStyle>
          <a:p>
            <a:pPr/>
            <a:r>
              <a:t>Objective: Minimize within-cluster sum of squares (WCSS)</a:t>
            </a:r>
          </a:p>
        </p:txBody>
      </p:sp>
      <p:sp>
        <p:nvSpPr>
          <p:cNvPr id="167" name="Shape 11"/>
          <p:cNvSpPr/>
          <p:nvPr/>
        </p:nvSpPr>
        <p:spPr>
          <a:xfrm>
            <a:off x="5303520" y="91440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" name="Text 12"/>
          <p:cNvSpPr txBox="1"/>
          <p:nvPr/>
        </p:nvSpPr>
        <p:spPr>
          <a:xfrm>
            <a:off x="5532119" y="1025460"/>
            <a:ext cx="31089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D7A8C"/>
                </a:solidFill>
              </a:defRPr>
            </a:lvl1pPr>
          </a:lstStyle>
          <a:p>
            <a:pPr/>
            <a:r>
              <a:t>Key Research Findings</a:t>
            </a:r>
          </a:p>
        </p:txBody>
      </p:sp>
      <p:sp>
        <p:nvSpPr>
          <p:cNvPr id="169" name="Shape 13"/>
          <p:cNvSpPr/>
          <p:nvPr/>
        </p:nvSpPr>
        <p:spPr>
          <a:xfrm>
            <a:off x="5486400" y="1463039"/>
            <a:ext cx="3200400" cy="51206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14"/>
          <p:cNvSpPr txBox="1"/>
          <p:nvPr/>
        </p:nvSpPr>
        <p:spPr>
          <a:xfrm>
            <a:off x="5605272" y="1542963"/>
            <a:ext cx="685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D7A8C"/>
                </a:solidFill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171" name="Text 15"/>
          <p:cNvSpPr txBox="1"/>
          <p:nvPr/>
        </p:nvSpPr>
        <p:spPr>
          <a:xfrm>
            <a:off x="6428231" y="1579539"/>
            <a:ext cx="212141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E293B"/>
                </a:solidFill>
              </a:defRPr>
            </a:lvl1pPr>
          </a:lstStyle>
          <a:p>
            <a:pPr/>
            <a:r>
              <a:t>15–50× faster than spectral methods (P3)</a:t>
            </a:r>
          </a:p>
        </p:txBody>
      </p:sp>
      <p:sp>
        <p:nvSpPr>
          <p:cNvPr id="172" name="Shape 16"/>
          <p:cNvSpPr/>
          <p:nvPr/>
        </p:nvSpPr>
        <p:spPr>
          <a:xfrm>
            <a:off x="5486400" y="2084832"/>
            <a:ext cx="3200400" cy="51206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17"/>
          <p:cNvSpPr txBox="1"/>
          <p:nvPr/>
        </p:nvSpPr>
        <p:spPr>
          <a:xfrm>
            <a:off x="5605272" y="2164755"/>
            <a:ext cx="685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D7A8C"/>
                </a:solidFill>
              </a:defRPr>
            </a:lvl1pPr>
          </a:lstStyle>
          <a:p>
            <a:pPr/>
            <a:r>
              <a:t>Weakness</a:t>
            </a:r>
          </a:p>
        </p:txBody>
      </p:sp>
      <p:sp>
        <p:nvSpPr>
          <p:cNvPr id="174" name="Text 18"/>
          <p:cNvSpPr txBox="1"/>
          <p:nvPr/>
        </p:nvSpPr>
        <p:spPr>
          <a:xfrm>
            <a:off x="6428231" y="2131481"/>
            <a:ext cx="2121410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E293B"/>
                </a:solidFill>
              </a:defRPr>
            </a:lvl1pPr>
          </a:lstStyle>
          <a:p>
            <a:pPr/>
            <a:r>
              <a:t>Sensitive to initialization; struggles with non-globular shapes (P2)</a:t>
            </a:r>
          </a:p>
        </p:txBody>
      </p:sp>
      <p:sp>
        <p:nvSpPr>
          <p:cNvPr id="175" name="Shape 19"/>
          <p:cNvSpPr/>
          <p:nvPr/>
        </p:nvSpPr>
        <p:spPr>
          <a:xfrm>
            <a:off x="5486400" y="2706623"/>
            <a:ext cx="3200400" cy="51206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20"/>
          <p:cNvSpPr txBox="1"/>
          <p:nvPr/>
        </p:nvSpPr>
        <p:spPr>
          <a:xfrm>
            <a:off x="5605272" y="2716697"/>
            <a:ext cx="68580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D7A8C"/>
                </a:solidFill>
              </a:defRPr>
            </a:lvl1pPr>
          </a:lstStyle>
          <a:p>
            <a:pPr/>
            <a:r>
              <a:t>UMAP boost</a:t>
            </a:r>
          </a:p>
        </p:txBody>
      </p:sp>
      <p:sp>
        <p:nvSpPr>
          <p:cNvPr id="177" name="Text 21"/>
          <p:cNvSpPr txBox="1"/>
          <p:nvPr/>
        </p:nvSpPr>
        <p:spPr>
          <a:xfrm>
            <a:off x="6428231" y="2753273"/>
            <a:ext cx="2121410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E293B"/>
                </a:solidFill>
              </a:defRPr>
            </a:lvl1pPr>
          </a:lstStyle>
          <a:p>
            <a:pPr/>
            <a:r>
              <a:t>UMAP preprocessing improves K-Means quality significantly (P3)</a:t>
            </a:r>
          </a:p>
        </p:txBody>
      </p:sp>
      <p:sp>
        <p:nvSpPr>
          <p:cNvPr id="178" name="Shape 22"/>
          <p:cNvSpPr/>
          <p:nvPr/>
        </p:nvSpPr>
        <p:spPr>
          <a:xfrm>
            <a:off x="5486400" y="3328415"/>
            <a:ext cx="3200400" cy="51206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Text 23"/>
          <p:cNvSpPr txBox="1"/>
          <p:nvPr/>
        </p:nvSpPr>
        <p:spPr>
          <a:xfrm>
            <a:off x="5605272" y="3408339"/>
            <a:ext cx="685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D7A8C"/>
                </a:solidFill>
              </a:defRPr>
            </a:lvl1pPr>
          </a:lstStyle>
          <a:p>
            <a:pPr/>
            <a:r>
              <a:t>No-free-k</a:t>
            </a:r>
          </a:p>
        </p:txBody>
      </p:sp>
      <p:sp>
        <p:nvSpPr>
          <p:cNvPr id="180" name="Text 24"/>
          <p:cNvSpPr txBox="1"/>
          <p:nvPr/>
        </p:nvSpPr>
        <p:spPr>
          <a:xfrm>
            <a:off x="6428231" y="3375065"/>
            <a:ext cx="2121410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E293B"/>
                </a:solidFill>
              </a:defRPr>
            </a:lvl1pPr>
          </a:lstStyle>
          <a:p>
            <a:pPr/>
            <a:r>
              <a:t>k* variant removes need to pre-specify number of clusters (P3)</a:t>
            </a:r>
          </a:p>
        </p:txBody>
      </p:sp>
      <p:sp>
        <p:nvSpPr>
          <p:cNvPr id="181" name="Shape 25"/>
          <p:cNvSpPr/>
          <p:nvPr/>
        </p:nvSpPr>
        <p:spPr>
          <a:xfrm>
            <a:off x="5486400" y="3950208"/>
            <a:ext cx="3200400" cy="51206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26"/>
          <p:cNvSpPr txBox="1"/>
          <p:nvPr/>
        </p:nvSpPr>
        <p:spPr>
          <a:xfrm>
            <a:off x="5605272" y="4030131"/>
            <a:ext cx="6858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D7A8C"/>
                </a:solidFill>
              </a:defRPr>
            </a:lvl1pPr>
          </a:lstStyle>
          <a:p>
            <a:pPr/>
            <a:r>
              <a:t>Use case</a:t>
            </a:r>
          </a:p>
        </p:txBody>
      </p:sp>
      <p:sp>
        <p:nvSpPr>
          <p:cNvPr id="183" name="Text 27"/>
          <p:cNvSpPr txBox="1"/>
          <p:nvPr/>
        </p:nvSpPr>
        <p:spPr>
          <a:xfrm>
            <a:off x="6428231" y="3996857"/>
            <a:ext cx="2121410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E293B"/>
                </a:solidFill>
              </a:defRPr>
            </a:lvl1pPr>
          </a:lstStyle>
          <a:p>
            <a:pPr/>
            <a:r>
              <a:t>Best for large-scale, well-separated, globular clusters (P1)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0E66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1"/>
          <p:cNvSpPr txBox="1"/>
          <p:nvPr/>
        </p:nvSpPr>
        <p:spPr>
          <a:xfrm>
            <a:off x="411479" y="188076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Hierarchical Clustering</a:t>
            </a:r>
          </a:p>
        </p:txBody>
      </p:sp>
      <p:sp>
        <p:nvSpPr>
          <p:cNvPr id="187" name="Shape 2"/>
          <p:cNvSpPr/>
          <p:nvPr/>
        </p:nvSpPr>
        <p:spPr>
          <a:xfrm>
            <a:off x="274319" y="960119"/>
            <a:ext cx="4160522" cy="3017522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" name="Shape 3"/>
          <p:cNvSpPr/>
          <p:nvPr/>
        </p:nvSpPr>
        <p:spPr>
          <a:xfrm>
            <a:off x="274319" y="960119"/>
            <a:ext cx="4160522" cy="54865"/>
          </a:xfrm>
          <a:prstGeom prst="rect">
            <a:avLst/>
          </a:prstGeom>
          <a:solidFill>
            <a:srgbClr val="0E66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 4"/>
          <p:cNvSpPr txBox="1"/>
          <p:nvPr/>
        </p:nvSpPr>
        <p:spPr>
          <a:xfrm>
            <a:off x="457200" y="1096195"/>
            <a:ext cx="374904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0E6655"/>
                </a:solidFill>
              </a:defRPr>
            </a:lvl1pPr>
          </a:lstStyle>
          <a:p>
            <a:pPr/>
            <a:r>
              <a:t>Agglomerative (Bottom-Up)</a:t>
            </a:r>
          </a:p>
        </p:txBody>
      </p:sp>
      <p:sp>
        <p:nvSpPr>
          <p:cNvPr id="190" name="Text 5"/>
          <p:cNvSpPr txBox="1"/>
          <p:nvPr/>
        </p:nvSpPr>
        <p:spPr>
          <a:xfrm>
            <a:off x="457200" y="1642794"/>
            <a:ext cx="37490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1.  Start: each point = its own cluster</a:t>
            </a:r>
          </a:p>
        </p:txBody>
      </p:sp>
      <p:sp>
        <p:nvSpPr>
          <p:cNvPr id="191" name="Text 6"/>
          <p:cNvSpPr txBox="1"/>
          <p:nvPr/>
        </p:nvSpPr>
        <p:spPr>
          <a:xfrm>
            <a:off x="457200" y="2173146"/>
            <a:ext cx="37490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2.  Merge two closest clusters</a:t>
            </a:r>
          </a:p>
        </p:txBody>
      </p:sp>
      <p:sp>
        <p:nvSpPr>
          <p:cNvPr id="192" name="Text 7"/>
          <p:cNvSpPr txBox="1"/>
          <p:nvPr/>
        </p:nvSpPr>
        <p:spPr>
          <a:xfrm>
            <a:off x="457200" y="2703498"/>
            <a:ext cx="37490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3.  Repeat until one cluster remains</a:t>
            </a:r>
          </a:p>
        </p:txBody>
      </p:sp>
      <p:sp>
        <p:nvSpPr>
          <p:cNvPr id="193" name="Text 8"/>
          <p:cNvSpPr txBox="1"/>
          <p:nvPr/>
        </p:nvSpPr>
        <p:spPr>
          <a:xfrm>
            <a:off x="457200" y="3233850"/>
            <a:ext cx="37490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4.  Cut dendrogram at desired level</a:t>
            </a:r>
          </a:p>
        </p:txBody>
      </p:sp>
      <p:sp>
        <p:nvSpPr>
          <p:cNvPr id="194" name="Shape 9"/>
          <p:cNvSpPr/>
          <p:nvPr/>
        </p:nvSpPr>
        <p:spPr>
          <a:xfrm>
            <a:off x="4709159" y="960119"/>
            <a:ext cx="4160521" cy="3017522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" name="Shape 10"/>
          <p:cNvSpPr/>
          <p:nvPr/>
        </p:nvSpPr>
        <p:spPr>
          <a:xfrm>
            <a:off x="4709159" y="960119"/>
            <a:ext cx="4160521" cy="54865"/>
          </a:xfrm>
          <a:prstGeom prst="rect">
            <a:avLst/>
          </a:prstGeom>
          <a:solidFill>
            <a:srgbClr val="0A4A7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11"/>
          <p:cNvSpPr txBox="1"/>
          <p:nvPr/>
        </p:nvSpPr>
        <p:spPr>
          <a:xfrm>
            <a:off x="4892040" y="1096195"/>
            <a:ext cx="37490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0A4A7C"/>
                </a:solidFill>
              </a:defRPr>
            </a:lvl1pPr>
          </a:lstStyle>
          <a:p>
            <a:pPr/>
            <a:r>
              <a:t>Divisive (Top-Down)</a:t>
            </a:r>
          </a:p>
        </p:txBody>
      </p:sp>
      <p:sp>
        <p:nvSpPr>
          <p:cNvPr id="197" name="Text 12"/>
          <p:cNvSpPr txBox="1"/>
          <p:nvPr/>
        </p:nvSpPr>
        <p:spPr>
          <a:xfrm>
            <a:off x="4892040" y="1642794"/>
            <a:ext cx="37490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1.  Start: all points = one cluster</a:t>
            </a:r>
          </a:p>
        </p:txBody>
      </p:sp>
      <p:sp>
        <p:nvSpPr>
          <p:cNvPr id="198" name="Text 13"/>
          <p:cNvSpPr txBox="1"/>
          <p:nvPr/>
        </p:nvSpPr>
        <p:spPr>
          <a:xfrm>
            <a:off x="4892040" y="2173146"/>
            <a:ext cx="37490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2.  Recursively split largest cluster</a:t>
            </a:r>
          </a:p>
        </p:txBody>
      </p:sp>
      <p:sp>
        <p:nvSpPr>
          <p:cNvPr id="199" name="Text 14"/>
          <p:cNvSpPr txBox="1"/>
          <p:nvPr/>
        </p:nvSpPr>
        <p:spPr>
          <a:xfrm>
            <a:off x="4892040" y="2703498"/>
            <a:ext cx="37490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3.  Repeat until each point is separate</a:t>
            </a:r>
          </a:p>
        </p:txBody>
      </p:sp>
      <p:sp>
        <p:nvSpPr>
          <p:cNvPr id="200" name="Text 15"/>
          <p:cNvSpPr txBox="1"/>
          <p:nvPr/>
        </p:nvSpPr>
        <p:spPr>
          <a:xfrm>
            <a:off x="4892040" y="3233850"/>
            <a:ext cx="37490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4.  Less common due to higher cost</a:t>
            </a:r>
          </a:p>
        </p:txBody>
      </p:sp>
      <p:sp>
        <p:nvSpPr>
          <p:cNvPr id="201" name="Shape 16"/>
          <p:cNvSpPr/>
          <p:nvPr/>
        </p:nvSpPr>
        <p:spPr>
          <a:xfrm>
            <a:off x="274320" y="4114799"/>
            <a:ext cx="8595360" cy="822962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17"/>
          <p:cNvSpPr txBox="1"/>
          <p:nvPr/>
        </p:nvSpPr>
        <p:spPr>
          <a:xfrm>
            <a:off x="502919" y="4253406"/>
            <a:ext cx="137160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0D9488"/>
                </a:solidFill>
              </a:defRPr>
            </a:lvl1pPr>
          </a:lstStyle>
          <a:p>
            <a:pPr/>
            <a:r>
              <a:t>Linkage Criteria: </a:t>
            </a:r>
          </a:p>
        </p:txBody>
      </p:sp>
      <p:sp>
        <p:nvSpPr>
          <p:cNvPr id="203" name="Text 18"/>
          <p:cNvSpPr txBox="1"/>
          <p:nvPr/>
        </p:nvSpPr>
        <p:spPr>
          <a:xfrm>
            <a:off x="1874519" y="4253406"/>
            <a:ext cx="676656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Single (min distance)  ·  Complete (max distance)  ·  Average (mean distance)  ·  Ward (minimize variance)</a:t>
            </a:r>
          </a:p>
        </p:txBody>
      </p:sp>
      <p:sp>
        <p:nvSpPr>
          <p:cNvPr id="204" name="Text 19"/>
          <p:cNvSpPr txBox="1"/>
          <p:nvPr/>
        </p:nvSpPr>
        <p:spPr>
          <a:xfrm>
            <a:off x="502919" y="4585760"/>
            <a:ext cx="813816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Result visualized as a dendrogram — reveals clusters at multiple granularities (P1, P2)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1"/>
          <p:cNvSpPr txBox="1"/>
          <p:nvPr/>
        </p:nvSpPr>
        <p:spPr>
          <a:xfrm>
            <a:off x="411479" y="188076"/>
            <a:ext cx="72237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DBSCAN  —  Density-Based Clustering</a:t>
            </a:r>
          </a:p>
        </p:txBody>
      </p:sp>
      <p:sp>
        <p:nvSpPr>
          <p:cNvPr id="208" name="Shape 2"/>
          <p:cNvSpPr/>
          <p:nvPr/>
        </p:nvSpPr>
        <p:spPr>
          <a:xfrm>
            <a:off x="274320" y="960119"/>
            <a:ext cx="2743201" cy="10972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" name="Shape 3"/>
          <p:cNvSpPr/>
          <p:nvPr/>
        </p:nvSpPr>
        <p:spPr>
          <a:xfrm>
            <a:off x="274320" y="960119"/>
            <a:ext cx="2743201" cy="54865"/>
          </a:xfrm>
          <a:prstGeom prst="rect">
            <a:avLst/>
          </a:prstGeom>
          <a:solidFill>
            <a:srgbClr val="0E66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 4"/>
          <p:cNvSpPr txBox="1"/>
          <p:nvPr/>
        </p:nvSpPr>
        <p:spPr>
          <a:xfrm>
            <a:off x="457199" y="1073711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E6655"/>
                </a:solidFill>
              </a:defRPr>
            </a:lvl1pPr>
          </a:lstStyle>
          <a:p>
            <a:pPr/>
            <a:r>
              <a:t>Core Point</a:t>
            </a:r>
          </a:p>
        </p:txBody>
      </p:sp>
      <p:sp>
        <p:nvSpPr>
          <p:cNvPr id="211" name="Text 5"/>
          <p:cNvSpPr txBox="1"/>
          <p:nvPr/>
        </p:nvSpPr>
        <p:spPr>
          <a:xfrm>
            <a:off x="457199" y="1549952"/>
            <a:ext cx="23774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≥ MinPts neighbors within ε radius</a:t>
            </a:r>
          </a:p>
        </p:txBody>
      </p:sp>
      <p:sp>
        <p:nvSpPr>
          <p:cNvPr id="212" name="Shape 6"/>
          <p:cNvSpPr/>
          <p:nvPr/>
        </p:nvSpPr>
        <p:spPr>
          <a:xfrm>
            <a:off x="3218688" y="960119"/>
            <a:ext cx="2743201" cy="10972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" name="Shape 7"/>
          <p:cNvSpPr/>
          <p:nvPr/>
        </p:nvSpPr>
        <p:spPr>
          <a:xfrm>
            <a:off x="3218688" y="960119"/>
            <a:ext cx="2743201" cy="54865"/>
          </a:xfrm>
          <a:prstGeom prst="rect">
            <a:avLst/>
          </a:prstGeom>
          <a:solidFill>
            <a:srgbClr val="1D7A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8"/>
          <p:cNvSpPr txBox="1"/>
          <p:nvPr/>
        </p:nvSpPr>
        <p:spPr>
          <a:xfrm>
            <a:off x="3401567" y="1073711"/>
            <a:ext cx="23774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D7A8C"/>
                </a:solidFill>
              </a:defRPr>
            </a:lvl1pPr>
          </a:lstStyle>
          <a:p>
            <a:pPr/>
            <a:r>
              <a:t>Border Point</a:t>
            </a:r>
          </a:p>
        </p:txBody>
      </p:sp>
      <p:sp>
        <p:nvSpPr>
          <p:cNvPr id="215" name="Text 9"/>
          <p:cNvSpPr txBox="1"/>
          <p:nvPr/>
        </p:nvSpPr>
        <p:spPr>
          <a:xfrm>
            <a:off x="3401567" y="1467402"/>
            <a:ext cx="237744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Within ε of a core point, but fewer neighbors</a:t>
            </a:r>
          </a:p>
        </p:txBody>
      </p:sp>
      <p:sp>
        <p:nvSpPr>
          <p:cNvPr id="216" name="Shape 10"/>
          <p:cNvSpPr/>
          <p:nvPr/>
        </p:nvSpPr>
        <p:spPr>
          <a:xfrm>
            <a:off x="6163055" y="960119"/>
            <a:ext cx="2743201" cy="10972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" name="Shape 11"/>
          <p:cNvSpPr/>
          <p:nvPr/>
        </p:nvSpPr>
        <p:spPr>
          <a:xfrm>
            <a:off x="6163055" y="960119"/>
            <a:ext cx="2743201" cy="54865"/>
          </a:xfrm>
          <a:prstGeom prst="rect">
            <a:avLst/>
          </a:prstGeom>
          <a:solidFill>
            <a:srgbClr val="922B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Text 12"/>
          <p:cNvSpPr txBox="1"/>
          <p:nvPr/>
        </p:nvSpPr>
        <p:spPr>
          <a:xfrm>
            <a:off x="6345935" y="1073711"/>
            <a:ext cx="23774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922B21"/>
                </a:solidFill>
              </a:defRPr>
            </a:lvl1pPr>
          </a:lstStyle>
          <a:p>
            <a:pPr/>
            <a:r>
              <a:t>Noise Point</a:t>
            </a:r>
          </a:p>
        </p:txBody>
      </p:sp>
      <p:sp>
        <p:nvSpPr>
          <p:cNvPr id="219" name="Text 13"/>
          <p:cNvSpPr txBox="1"/>
          <p:nvPr/>
        </p:nvSpPr>
        <p:spPr>
          <a:xfrm>
            <a:off x="6345935" y="1467402"/>
            <a:ext cx="237744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Neither core nor border — treated as outlier</a:t>
            </a:r>
          </a:p>
        </p:txBody>
      </p:sp>
      <p:sp>
        <p:nvSpPr>
          <p:cNvPr id="220" name="Shape 14"/>
          <p:cNvSpPr/>
          <p:nvPr/>
        </p:nvSpPr>
        <p:spPr>
          <a:xfrm>
            <a:off x="274319" y="2285999"/>
            <a:ext cx="4206242" cy="246888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" name="Text 15"/>
          <p:cNvSpPr txBox="1"/>
          <p:nvPr/>
        </p:nvSpPr>
        <p:spPr>
          <a:xfrm>
            <a:off x="502920" y="2408359"/>
            <a:ext cx="374904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0E6655"/>
                </a:solidFill>
              </a:defRPr>
            </a:lvl1pPr>
          </a:lstStyle>
          <a:p>
            <a:pPr/>
            <a:r>
              <a:t>Strengths (from P2, P6)</a:t>
            </a:r>
          </a:p>
        </p:txBody>
      </p:sp>
      <p:sp>
        <p:nvSpPr>
          <p:cNvPr id="222" name="Text 16"/>
          <p:cNvSpPr txBox="1"/>
          <p:nvPr/>
        </p:nvSpPr>
        <p:spPr>
          <a:xfrm>
            <a:off x="502920" y="2865687"/>
            <a:ext cx="3749040" cy="248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 </a:t>
            </a:r>
            <a:r>
              <a:t>Automatically determines cluster count</a:t>
            </a:r>
          </a:p>
        </p:txBody>
      </p:sp>
      <p:sp>
        <p:nvSpPr>
          <p:cNvPr id="223" name="Text 17"/>
          <p:cNvSpPr txBox="1"/>
          <p:nvPr/>
        </p:nvSpPr>
        <p:spPr>
          <a:xfrm>
            <a:off x="502920" y="3249735"/>
            <a:ext cx="3749040" cy="248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 </a:t>
            </a:r>
            <a:r>
              <a:t>Handles arbitrary-shaped clusters</a:t>
            </a:r>
          </a:p>
        </p:txBody>
      </p:sp>
      <p:sp>
        <p:nvSpPr>
          <p:cNvPr id="224" name="Text 18"/>
          <p:cNvSpPr txBox="1"/>
          <p:nvPr/>
        </p:nvSpPr>
        <p:spPr>
          <a:xfrm>
            <a:off x="502920" y="3633783"/>
            <a:ext cx="3749040" cy="248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 </a:t>
            </a:r>
            <a:r>
              <a:t>Best silhouette score: 0.8646 vs 0.8160 for K-Means (P6)</a:t>
            </a:r>
          </a:p>
        </p:txBody>
      </p:sp>
      <p:sp>
        <p:nvSpPr>
          <p:cNvPr id="225" name="Text 19"/>
          <p:cNvSpPr txBox="1"/>
          <p:nvPr/>
        </p:nvSpPr>
        <p:spPr>
          <a:xfrm>
            <a:off x="502920" y="4017831"/>
            <a:ext cx="3749040" cy="248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 </a:t>
            </a:r>
            <a:r>
              <a:t>Deterministic — zero variance across runs (P3)</a:t>
            </a:r>
          </a:p>
        </p:txBody>
      </p:sp>
      <p:sp>
        <p:nvSpPr>
          <p:cNvPr id="226" name="Text 20"/>
          <p:cNvSpPr txBox="1"/>
          <p:nvPr/>
        </p:nvSpPr>
        <p:spPr>
          <a:xfrm>
            <a:off x="502920" y="4401879"/>
            <a:ext cx="3749040" cy="248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 </a:t>
            </a:r>
            <a:r>
              <a:t>Naturally identifies and isolates noise/outliers</a:t>
            </a:r>
          </a:p>
        </p:txBody>
      </p:sp>
      <p:sp>
        <p:nvSpPr>
          <p:cNvPr id="227" name="Shape 21"/>
          <p:cNvSpPr/>
          <p:nvPr/>
        </p:nvSpPr>
        <p:spPr>
          <a:xfrm>
            <a:off x="4663440" y="2285999"/>
            <a:ext cx="4206241" cy="246888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" name="Text 22"/>
          <p:cNvSpPr txBox="1"/>
          <p:nvPr/>
        </p:nvSpPr>
        <p:spPr>
          <a:xfrm>
            <a:off x="4892040" y="2408359"/>
            <a:ext cx="37490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922B21"/>
                </a:solidFill>
              </a:defRPr>
            </a:lvl1pPr>
          </a:lstStyle>
          <a:p>
            <a:pPr/>
            <a:r>
              <a:t>Limitations (from P2, P3)</a:t>
            </a:r>
          </a:p>
        </p:txBody>
      </p:sp>
      <p:sp>
        <p:nvSpPr>
          <p:cNvPr id="229" name="Text 23"/>
          <p:cNvSpPr txBox="1"/>
          <p:nvPr/>
        </p:nvSpPr>
        <p:spPr>
          <a:xfrm>
            <a:off x="4892040" y="2866896"/>
            <a:ext cx="3749041" cy="246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✗  </a:t>
            </a:r>
            <a:r>
              <a:t>Struggles with varying-density clusters</a:t>
            </a:r>
          </a:p>
        </p:txBody>
      </p:sp>
      <p:sp>
        <p:nvSpPr>
          <p:cNvPr id="230" name="Text 24"/>
          <p:cNvSpPr txBox="1"/>
          <p:nvPr/>
        </p:nvSpPr>
        <p:spPr>
          <a:xfrm>
            <a:off x="4892040" y="3250944"/>
            <a:ext cx="3749041" cy="246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✗  </a:t>
            </a:r>
            <a:r>
              <a:t>ε and MinPts must be carefully tuned</a:t>
            </a:r>
          </a:p>
        </p:txBody>
      </p:sp>
      <p:sp>
        <p:nvSpPr>
          <p:cNvPr id="231" name="Text 25"/>
          <p:cNvSpPr txBox="1"/>
          <p:nvPr/>
        </p:nvSpPr>
        <p:spPr>
          <a:xfrm>
            <a:off x="4892040" y="3634992"/>
            <a:ext cx="3749041" cy="246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✗  </a:t>
            </a:r>
            <a:r>
              <a:t>Performance degrades in high dimensions</a:t>
            </a:r>
          </a:p>
        </p:txBody>
      </p:sp>
      <p:sp>
        <p:nvSpPr>
          <p:cNvPr id="232" name="Text 26"/>
          <p:cNvSpPr txBox="1"/>
          <p:nvPr/>
        </p:nvSpPr>
        <p:spPr>
          <a:xfrm>
            <a:off x="4892040" y="4019040"/>
            <a:ext cx="3749041" cy="246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✗  </a:t>
            </a:r>
            <a:r>
              <a:t>Not suitable for very large datasets</a:t>
            </a:r>
          </a:p>
        </p:txBody>
      </p:sp>
      <p:sp>
        <p:nvSpPr>
          <p:cNvPr id="233" name="Text 27"/>
          <p:cNvSpPr txBox="1"/>
          <p:nvPr/>
        </p:nvSpPr>
        <p:spPr>
          <a:xfrm>
            <a:off x="4892040" y="4403088"/>
            <a:ext cx="3749041" cy="246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✗  </a:t>
            </a:r>
            <a:r>
              <a:t>Single global density threshold is rigid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F618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Text 1"/>
          <p:cNvSpPr txBox="1"/>
          <p:nvPr/>
        </p:nvSpPr>
        <p:spPr>
          <a:xfrm>
            <a:off x="411479" y="188076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Spectral &amp; Graph-Based Clustering</a:t>
            </a:r>
          </a:p>
        </p:txBody>
      </p:sp>
      <p:sp>
        <p:nvSpPr>
          <p:cNvPr id="237" name="Shape 2"/>
          <p:cNvSpPr/>
          <p:nvPr/>
        </p:nvSpPr>
        <p:spPr>
          <a:xfrm>
            <a:off x="274319" y="960119"/>
            <a:ext cx="4160522" cy="1737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" name="Shape 3"/>
          <p:cNvSpPr/>
          <p:nvPr/>
        </p:nvSpPr>
        <p:spPr>
          <a:xfrm>
            <a:off x="274320" y="960119"/>
            <a:ext cx="73153" cy="1737361"/>
          </a:xfrm>
          <a:prstGeom prst="rect">
            <a:avLst/>
          </a:prstGeom>
          <a:solidFill>
            <a:srgbClr val="1F618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4"/>
          <p:cNvSpPr txBox="1"/>
          <p:nvPr/>
        </p:nvSpPr>
        <p:spPr>
          <a:xfrm>
            <a:off x="502920" y="1082479"/>
            <a:ext cx="374904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F618D"/>
                </a:solidFill>
              </a:defRPr>
            </a:lvl1pPr>
          </a:lstStyle>
          <a:p>
            <a:pPr/>
            <a:r>
              <a:t>Spectral Clustering</a:t>
            </a:r>
          </a:p>
        </p:txBody>
      </p:sp>
      <p:sp>
        <p:nvSpPr>
          <p:cNvPr id="240" name="Text 5"/>
          <p:cNvSpPr txBox="1"/>
          <p:nvPr/>
        </p:nvSpPr>
        <p:spPr>
          <a:xfrm>
            <a:off x="502920" y="1732324"/>
            <a:ext cx="3749040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Projects data into eigenspace of graph Laplacian, then applies K-Means. Excels at complex manifold structures. Best ARI = 0.794 with UMAP on high-dim data (P3).</a:t>
            </a:r>
          </a:p>
        </p:txBody>
      </p:sp>
      <p:sp>
        <p:nvSpPr>
          <p:cNvPr id="241" name="Shape 6"/>
          <p:cNvSpPr/>
          <p:nvPr/>
        </p:nvSpPr>
        <p:spPr>
          <a:xfrm>
            <a:off x="4709159" y="960119"/>
            <a:ext cx="4160521" cy="1737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" name="Shape 7"/>
          <p:cNvSpPr/>
          <p:nvPr/>
        </p:nvSpPr>
        <p:spPr>
          <a:xfrm>
            <a:off x="4709159" y="960119"/>
            <a:ext cx="73153" cy="1737361"/>
          </a:xfrm>
          <a:prstGeom prst="rect">
            <a:avLst/>
          </a:prstGeom>
          <a:solidFill>
            <a:srgbClr val="5B2C6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8"/>
          <p:cNvSpPr txBox="1"/>
          <p:nvPr/>
        </p:nvSpPr>
        <p:spPr>
          <a:xfrm>
            <a:off x="4937760" y="1082479"/>
            <a:ext cx="37490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5B2C6F"/>
                </a:solidFill>
              </a:defRPr>
            </a:lvl1pPr>
          </a:lstStyle>
          <a:p>
            <a:pPr/>
            <a:r>
              <a:t>Graph Structure Learning (GSL)</a:t>
            </a:r>
          </a:p>
        </p:txBody>
      </p:sp>
      <p:sp>
        <p:nvSpPr>
          <p:cNvPr id="244" name="Text 9"/>
          <p:cNvSpPr txBox="1"/>
          <p:nvPr/>
        </p:nvSpPr>
        <p:spPr>
          <a:xfrm>
            <a:off x="4937760" y="1732324"/>
            <a:ext cx="3749041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Simultaneously learns the graph structure and performs clustering. Avoids assumptions of fixed graph. Handles large-scale and high-dimensional data (P4).</a:t>
            </a:r>
          </a:p>
        </p:txBody>
      </p:sp>
      <p:sp>
        <p:nvSpPr>
          <p:cNvPr id="245" name="Shape 10"/>
          <p:cNvSpPr/>
          <p:nvPr/>
        </p:nvSpPr>
        <p:spPr>
          <a:xfrm>
            <a:off x="274319" y="2880360"/>
            <a:ext cx="4160522" cy="1737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" name="Shape 11"/>
          <p:cNvSpPr/>
          <p:nvPr/>
        </p:nvSpPr>
        <p:spPr>
          <a:xfrm>
            <a:off x="274320" y="2880360"/>
            <a:ext cx="73153" cy="1737361"/>
          </a:xfrm>
          <a:prstGeom prst="rect">
            <a:avLst/>
          </a:prstGeom>
          <a:solidFill>
            <a:srgbClr val="0E66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Text 12"/>
          <p:cNvSpPr txBox="1"/>
          <p:nvPr/>
        </p:nvSpPr>
        <p:spPr>
          <a:xfrm>
            <a:off x="502920" y="3002719"/>
            <a:ext cx="374904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0E6655"/>
                </a:solidFill>
              </a:defRPr>
            </a:lvl1pPr>
          </a:lstStyle>
          <a:p>
            <a:pPr/>
            <a:r>
              <a:t>Leiden Algorithm</a:t>
            </a:r>
          </a:p>
        </p:txBody>
      </p:sp>
      <p:sp>
        <p:nvSpPr>
          <p:cNvPr id="248" name="Text 13"/>
          <p:cNvSpPr txBox="1"/>
          <p:nvPr/>
        </p:nvSpPr>
        <p:spPr>
          <a:xfrm>
            <a:off x="502920" y="3652564"/>
            <a:ext cx="3749040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Optimizes modularity in graphs. Guarantees well-connected communities — improves on Louvain by ensuring no subset is poorly connected (P5).</a:t>
            </a:r>
          </a:p>
        </p:txBody>
      </p:sp>
      <p:sp>
        <p:nvSpPr>
          <p:cNvPr id="249" name="Shape 14"/>
          <p:cNvSpPr/>
          <p:nvPr/>
        </p:nvSpPr>
        <p:spPr>
          <a:xfrm>
            <a:off x="4709159" y="2880360"/>
            <a:ext cx="4160521" cy="1737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" name="Shape 15"/>
          <p:cNvSpPr/>
          <p:nvPr/>
        </p:nvSpPr>
        <p:spPr>
          <a:xfrm>
            <a:off x="4709159" y="2880360"/>
            <a:ext cx="73153" cy="1737361"/>
          </a:xfrm>
          <a:prstGeom prst="rect">
            <a:avLst/>
          </a:prstGeom>
          <a:solidFill>
            <a:srgbClr val="922B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 16"/>
          <p:cNvSpPr txBox="1"/>
          <p:nvPr/>
        </p:nvSpPr>
        <p:spPr>
          <a:xfrm>
            <a:off x="4937760" y="3002719"/>
            <a:ext cx="37490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922B21"/>
                </a:solidFill>
              </a:defRPr>
            </a:lvl1pPr>
          </a:lstStyle>
          <a:p>
            <a:pPr/>
            <a:r>
              <a:t>Deep Graph Clustering</a:t>
            </a:r>
          </a:p>
        </p:txBody>
      </p:sp>
      <p:sp>
        <p:nvSpPr>
          <p:cNvPr id="252" name="Text 17"/>
          <p:cNvSpPr txBox="1"/>
          <p:nvPr/>
        </p:nvSpPr>
        <p:spPr>
          <a:xfrm>
            <a:off x="4937760" y="3735114"/>
            <a:ext cx="374904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Graph Neural Networks (GNNs) learn node embeddings for clustering. State-of-the-art on citation networks, biological data (P5).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Text 1"/>
          <p:cNvSpPr txBox="1"/>
          <p:nvPr/>
        </p:nvSpPr>
        <p:spPr>
          <a:xfrm>
            <a:off x="411479" y="188076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Comparative Performance</a:t>
            </a:r>
          </a:p>
        </p:txBody>
      </p:sp>
      <p:graphicFrame>
        <p:nvGraphicFramePr>
          <p:cNvPr id="256" name="Table 0"/>
          <p:cNvGraphicFramePr/>
          <p:nvPr/>
        </p:nvGraphicFramePr>
        <p:xfrm>
          <a:off x="4937759" y="914400"/>
          <a:ext cx="4023362" cy="27432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097280"/>
                <a:gridCol w="713232"/>
                <a:gridCol w="713232"/>
                <a:gridCol w="822960"/>
                <a:gridCol w="676656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0D9488"/>
                          </a:solidFill>
                        </a:rPr>
                        <a:t>Criterion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0D9488"/>
                          </a:solidFill>
                        </a:rPr>
                        <a:t>K-Means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0D9488"/>
                          </a:solidFill>
                        </a:rPr>
                        <a:t>DBSCAN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0D9488"/>
                          </a:solidFill>
                        </a:rPr>
                        <a:t>Hierarch.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0D9488"/>
                          </a:solidFill>
                        </a:rPr>
                        <a:t>Spectral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CADCFC"/>
                          </a:solidFill>
                        </a:rPr>
                        <a:t>Pre-specify k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86EFAC"/>
                          </a:solidFill>
                        </a:rPr>
                        <a:t>Yes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FCA5A5"/>
                          </a:solidFill>
                        </a:rPr>
                        <a:t>No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FCA5A5"/>
                          </a:solidFill>
                        </a:rPr>
                        <a:t>No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86EFAC"/>
                          </a:solidFill>
                        </a:rPr>
                        <a:t>Yes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CADCFC"/>
                          </a:solidFill>
                        </a:rPr>
                        <a:t>Noise handling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FCA5A5"/>
                          </a:solidFill>
                        </a:rPr>
                        <a:t>Poor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86EFAC"/>
                          </a:solidFill>
                        </a:rPr>
                        <a:t>Excellent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FCA5A5"/>
                          </a:solidFill>
                        </a:rPr>
                        <a:t>Poor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FFFFFF"/>
                          </a:solidFill>
                        </a:rPr>
                        <a:t>Moderate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CADCFC"/>
                          </a:solidFill>
                        </a:rPr>
                        <a:t>Arbitrary shapes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FCA5A5"/>
                          </a:solidFill>
                        </a:rPr>
                        <a:t>No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86EFAC"/>
                          </a:solidFill>
                        </a:rPr>
                        <a:t>Yes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FFFFFF"/>
                          </a:solidFill>
                        </a:rPr>
                        <a:t>Partial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86EFAC"/>
                          </a:solidFill>
                        </a:rPr>
                        <a:t>Yes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CADCFC"/>
                          </a:solidFill>
                        </a:rPr>
                        <a:t>Scalability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86EFAC"/>
                          </a:solidFill>
                        </a:rPr>
                        <a:t>High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FFFFFF"/>
                          </a:solidFill>
                        </a:rPr>
                        <a:t>Medium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FCA5A5"/>
                          </a:solidFill>
                        </a:rPr>
                        <a:t>Low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FCA5A5"/>
                          </a:solidFill>
                        </a:rPr>
                        <a:t>Low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CADCFC"/>
                          </a:solidFill>
                        </a:rPr>
                        <a:t>Deterministic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FCA5A5"/>
                          </a:solidFill>
                        </a:rPr>
                        <a:t>No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86EFAC"/>
                          </a:solidFill>
                        </a:rPr>
                        <a:t>Yes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86EFAC"/>
                          </a:solidFill>
                        </a:rPr>
                        <a:t>Yes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FCA5A5"/>
                          </a:solidFill>
                        </a:rPr>
                        <a:t>No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sp>
        <p:nvSpPr>
          <p:cNvPr id="257" name="Text 2"/>
          <p:cNvSpPr txBox="1"/>
          <p:nvPr/>
        </p:nvSpPr>
        <p:spPr>
          <a:xfrm>
            <a:off x="320040" y="4268251"/>
            <a:ext cx="850392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800">
                <a:solidFill>
                  <a:srgbClr val="64748B"/>
                </a:solidFill>
              </a:defRPr>
            </a:lvl1pPr>
          </a:lstStyle>
          <a:p>
            <a:pPr/>
            <a:r>
              <a:t>Source: Papers P1, P2, P3, P6 — compiled from experimental results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5B2C6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Text 1"/>
          <p:cNvSpPr txBox="1"/>
          <p:nvPr/>
        </p:nvSpPr>
        <p:spPr>
          <a:xfrm>
            <a:off x="411479" y="188076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Deep Learning Meets Cluster Analysis</a:t>
            </a:r>
          </a:p>
        </p:txBody>
      </p:sp>
      <p:sp>
        <p:nvSpPr>
          <p:cNvPr id="261" name="Text 2"/>
          <p:cNvSpPr txBox="1"/>
          <p:nvPr/>
        </p:nvSpPr>
        <p:spPr>
          <a:xfrm>
            <a:off x="411479" y="946457"/>
            <a:ext cx="8321042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1E293B"/>
                </a:solidFill>
              </a:defRPr>
            </a:lvl1pPr>
          </a:lstStyle>
          <a:p>
            <a:pPr/>
            <a:r>
              <a:t>Recent advances (P2, P4, P5) demonstrate that deep learning dramatically improves clustering on high-dimensional, complex, and graph-structured data.</a:t>
            </a:r>
          </a:p>
        </p:txBody>
      </p:sp>
      <p:sp>
        <p:nvSpPr>
          <p:cNvPr id="262" name="Shape 3"/>
          <p:cNvSpPr/>
          <p:nvPr/>
        </p:nvSpPr>
        <p:spPr>
          <a:xfrm>
            <a:off x="274319" y="1554480"/>
            <a:ext cx="4160522" cy="1417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3" name="Shape 4"/>
          <p:cNvSpPr/>
          <p:nvPr/>
        </p:nvSpPr>
        <p:spPr>
          <a:xfrm>
            <a:off x="274319" y="1554480"/>
            <a:ext cx="4160522" cy="45721"/>
          </a:xfrm>
          <a:prstGeom prst="rect">
            <a:avLst/>
          </a:prstGeom>
          <a:solidFill>
            <a:srgbClr val="5B2C6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Text 5"/>
          <p:cNvSpPr txBox="1"/>
          <p:nvPr/>
        </p:nvSpPr>
        <p:spPr>
          <a:xfrm>
            <a:off x="457199" y="1681787"/>
            <a:ext cx="33832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5B2C6F"/>
                </a:solidFill>
              </a:defRPr>
            </a:lvl1pPr>
          </a:lstStyle>
          <a:p>
            <a:pPr/>
            <a:r>
              <a:t>Deep Embedded Clustering (DEC)</a:t>
            </a:r>
          </a:p>
        </p:txBody>
      </p:sp>
      <p:sp>
        <p:nvSpPr>
          <p:cNvPr id="265" name="Text 6"/>
          <p:cNvSpPr txBox="1"/>
          <p:nvPr/>
        </p:nvSpPr>
        <p:spPr>
          <a:xfrm>
            <a:off x="3886199" y="1680123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[P2]</a:t>
            </a:r>
          </a:p>
        </p:txBody>
      </p:sp>
      <p:sp>
        <p:nvSpPr>
          <p:cNvPr id="266" name="Text 7"/>
          <p:cNvSpPr txBox="1"/>
          <p:nvPr/>
        </p:nvSpPr>
        <p:spPr>
          <a:xfrm>
            <a:off x="457200" y="2226354"/>
            <a:ext cx="374904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Jointly optimizes autoencoder reconstruction and cluster assignment. Learns representations tailored for clustering objectives.</a:t>
            </a:r>
          </a:p>
        </p:txBody>
      </p:sp>
      <p:sp>
        <p:nvSpPr>
          <p:cNvPr id="267" name="Shape 8"/>
          <p:cNvSpPr/>
          <p:nvPr/>
        </p:nvSpPr>
        <p:spPr>
          <a:xfrm>
            <a:off x="4709159" y="1554480"/>
            <a:ext cx="4160521" cy="1417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8" name="Shape 9"/>
          <p:cNvSpPr/>
          <p:nvPr/>
        </p:nvSpPr>
        <p:spPr>
          <a:xfrm>
            <a:off x="4709159" y="1554480"/>
            <a:ext cx="4160521" cy="45721"/>
          </a:xfrm>
          <a:prstGeom prst="rect">
            <a:avLst/>
          </a:prstGeom>
          <a:solidFill>
            <a:srgbClr val="1F618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Text 10"/>
          <p:cNvSpPr txBox="1"/>
          <p:nvPr/>
        </p:nvSpPr>
        <p:spPr>
          <a:xfrm>
            <a:off x="4892040" y="1681787"/>
            <a:ext cx="33832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618D"/>
                </a:solidFill>
              </a:defRPr>
            </a:lvl1pPr>
          </a:lstStyle>
          <a:p>
            <a:pPr/>
            <a:r>
              <a:t>Graph Neural Networks (GNNs)</a:t>
            </a:r>
          </a:p>
        </p:txBody>
      </p:sp>
      <p:sp>
        <p:nvSpPr>
          <p:cNvPr id="270" name="Text 11"/>
          <p:cNvSpPr txBox="1"/>
          <p:nvPr/>
        </p:nvSpPr>
        <p:spPr>
          <a:xfrm>
            <a:off x="8321039" y="1680123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[P5]</a:t>
            </a:r>
          </a:p>
        </p:txBody>
      </p:sp>
      <p:sp>
        <p:nvSpPr>
          <p:cNvPr id="271" name="Text 12"/>
          <p:cNvSpPr txBox="1"/>
          <p:nvPr/>
        </p:nvSpPr>
        <p:spPr>
          <a:xfrm>
            <a:off x="4892040" y="2226354"/>
            <a:ext cx="374904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Learns node embeddings that capture local and global graph topology. Superior for citation networks and biological data.</a:t>
            </a:r>
          </a:p>
        </p:txBody>
      </p:sp>
      <p:sp>
        <p:nvSpPr>
          <p:cNvPr id="272" name="Shape 13"/>
          <p:cNvSpPr/>
          <p:nvPr/>
        </p:nvSpPr>
        <p:spPr>
          <a:xfrm>
            <a:off x="274319" y="3154679"/>
            <a:ext cx="4160522" cy="1417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3" name="Shape 14"/>
          <p:cNvSpPr/>
          <p:nvPr/>
        </p:nvSpPr>
        <p:spPr>
          <a:xfrm>
            <a:off x="274319" y="3154679"/>
            <a:ext cx="4160522" cy="45721"/>
          </a:xfrm>
          <a:prstGeom prst="rect">
            <a:avLst/>
          </a:prstGeom>
          <a:solidFill>
            <a:srgbClr val="0E66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Text 15"/>
          <p:cNvSpPr txBox="1"/>
          <p:nvPr/>
        </p:nvSpPr>
        <p:spPr>
          <a:xfrm>
            <a:off x="457199" y="3281987"/>
            <a:ext cx="33832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E6655"/>
                </a:solidFill>
              </a:defRPr>
            </a:lvl1pPr>
          </a:lstStyle>
          <a:p>
            <a:pPr/>
            <a:r>
              <a:t>Multi-View Spectral Clustering</a:t>
            </a:r>
          </a:p>
        </p:txBody>
      </p:sp>
      <p:sp>
        <p:nvSpPr>
          <p:cNvPr id="275" name="Text 16"/>
          <p:cNvSpPr txBox="1"/>
          <p:nvPr/>
        </p:nvSpPr>
        <p:spPr>
          <a:xfrm>
            <a:off x="3886199" y="3280323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[P4]</a:t>
            </a:r>
          </a:p>
        </p:txBody>
      </p:sp>
      <p:sp>
        <p:nvSpPr>
          <p:cNvPr id="276" name="Text 17"/>
          <p:cNvSpPr txBox="1"/>
          <p:nvPr/>
        </p:nvSpPr>
        <p:spPr>
          <a:xfrm>
            <a:off x="457200" y="3826554"/>
            <a:ext cx="374904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Fuses information from multiple graph views. Outperforms single-view methods on heterogeneous datasets.</a:t>
            </a:r>
          </a:p>
        </p:txBody>
      </p:sp>
      <p:sp>
        <p:nvSpPr>
          <p:cNvPr id="277" name="Shape 18"/>
          <p:cNvSpPr/>
          <p:nvPr/>
        </p:nvSpPr>
        <p:spPr>
          <a:xfrm>
            <a:off x="4709159" y="3154679"/>
            <a:ext cx="4160521" cy="1417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8" name="Shape 19"/>
          <p:cNvSpPr/>
          <p:nvPr/>
        </p:nvSpPr>
        <p:spPr>
          <a:xfrm>
            <a:off x="4709159" y="3154679"/>
            <a:ext cx="4160521" cy="45721"/>
          </a:xfrm>
          <a:prstGeom prst="rect">
            <a:avLst/>
          </a:prstGeom>
          <a:solidFill>
            <a:srgbClr val="78421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Text 20"/>
          <p:cNvSpPr txBox="1"/>
          <p:nvPr/>
        </p:nvSpPr>
        <p:spPr>
          <a:xfrm>
            <a:off x="4892040" y="3281987"/>
            <a:ext cx="33832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784212"/>
                </a:solidFill>
              </a:defRPr>
            </a:lvl1pPr>
          </a:lstStyle>
          <a:p>
            <a:pPr/>
            <a:r>
              <a:t>Anchor Graph Learning</a:t>
            </a:r>
          </a:p>
        </p:txBody>
      </p:sp>
      <p:sp>
        <p:nvSpPr>
          <p:cNvPr id="280" name="Text 21"/>
          <p:cNvSpPr txBox="1"/>
          <p:nvPr/>
        </p:nvSpPr>
        <p:spPr>
          <a:xfrm>
            <a:off x="8321039" y="3280323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[P4]</a:t>
            </a:r>
          </a:p>
        </p:txBody>
      </p:sp>
      <p:sp>
        <p:nvSpPr>
          <p:cNvPr id="281" name="Text 22"/>
          <p:cNvSpPr txBox="1"/>
          <p:nvPr/>
        </p:nvSpPr>
        <p:spPr>
          <a:xfrm>
            <a:off x="4892040" y="3826554"/>
            <a:ext cx="374904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Reduces complexity by selecting representative anchor points. Makes spectral clustering tractable for large-scale datasets.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4" name="Text 1"/>
          <p:cNvSpPr txBox="1"/>
          <p:nvPr/>
        </p:nvSpPr>
        <p:spPr>
          <a:xfrm>
            <a:off x="411479" y="188076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0A2342"/>
                </a:solidFill>
              </a:defRPr>
            </a:lvl1pPr>
          </a:lstStyle>
          <a:p>
            <a:pPr/>
            <a:r>
              <a:t>Evaluation Metrics</a:t>
            </a:r>
          </a:p>
        </p:txBody>
      </p:sp>
      <p:sp>
        <p:nvSpPr>
          <p:cNvPr id="285" name="Shape 2"/>
          <p:cNvSpPr/>
          <p:nvPr/>
        </p:nvSpPr>
        <p:spPr>
          <a:xfrm>
            <a:off x="274319" y="914400"/>
            <a:ext cx="4160522" cy="1188720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6" name="Shape 3"/>
          <p:cNvSpPr/>
          <p:nvPr/>
        </p:nvSpPr>
        <p:spPr>
          <a:xfrm>
            <a:off x="3703320" y="914399"/>
            <a:ext cx="731521" cy="292610"/>
          </a:xfrm>
          <a:prstGeom prst="rect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Text 4"/>
          <p:cNvSpPr txBox="1"/>
          <p:nvPr/>
        </p:nvSpPr>
        <p:spPr>
          <a:xfrm>
            <a:off x="3675888" y="997203"/>
            <a:ext cx="731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Internal</a:t>
            </a:r>
          </a:p>
        </p:txBody>
      </p:sp>
      <p:sp>
        <p:nvSpPr>
          <p:cNvPr id="288" name="Text 5"/>
          <p:cNvSpPr txBox="1"/>
          <p:nvPr/>
        </p:nvSpPr>
        <p:spPr>
          <a:xfrm>
            <a:off x="429767" y="1000559"/>
            <a:ext cx="3108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D9488"/>
                </a:solidFill>
              </a:defRPr>
            </a:lvl1pPr>
          </a:lstStyle>
          <a:p>
            <a:pPr/>
            <a:r>
              <a:t>Silhouette Score</a:t>
            </a:r>
          </a:p>
        </p:txBody>
      </p:sp>
      <p:sp>
        <p:nvSpPr>
          <p:cNvPr id="289" name="Text 6"/>
          <p:cNvSpPr txBox="1"/>
          <p:nvPr/>
        </p:nvSpPr>
        <p:spPr>
          <a:xfrm>
            <a:off x="429768" y="1296075"/>
            <a:ext cx="37490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Range: [-1, +1]   Best: +1</a:t>
            </a:r>
          </a:p>
        </p:txBody>
      </p:sp>
      <p:sp>
        <p:nvSpPr>
          <p:cNvPr id="290" name="Text 7"/>
          <p:cNvSpPr txBox="1"/>
          <p:nvPr/>
        </p:nvSpPr>
        <p:spPr>
          <a:xfrm>
            <a:off x="429768" y="1601128"/>
            <a:ext cx="3749040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Measures how similar a point is to its own cluster vs. others. Intuitive and widely used.</a:t>
            </a:r>
          </a:p>
        </p:txBody>
      </p:sp>
      <p:sp>
        <p:nvSpPr>
          <p:cNvPr id="291" name="Shape 8"/>
          <p:cNvSpPr/>
          <p:nvPr/>
        </p:nvSpPr>
        <p:spPr>
          <a:xfrm>
            <a:off x="4709159" y="914400"/>
            <a:ext cx="4160521" cy="1188720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" name="Shape 9"/>
          <p:cNvSpPr/>
          <p:nvPr/>
        </p:nvSpPr>
        <p:spPr>
          <a:xfrm>
            <a:off x="8138159" y="914399"/>
            <a:ext cx="731521" cy="292610"/>
          </a:xfrm>
          <a:prstGeom prst="rect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Text 10"/>
          <p:cNvSpPr txBox="1"/>
          <p:nvPr/>
        </p:nvSpPr>
        <p:spPr>
          <a:xfrm>
            <a:off x="8110728" y="997203"/>
            <a:ext cx="731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Internal</a:t>
            </a:r>
          </a:p>
        </p:txBody>
      </p:sp>
      <p:sp>
        <p:nvSpPr>
          <p:cNvPr id="294" name="Text 11"/>
          <p:cNvSpPr txBox="1"/>
          <p:nvPr/>
        </p:nvSpPr>
        <p:spPr>
          <a:xfrm>
            <a:off x="4864608" y="1000559"/>
            <a:ext cx="3108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D9488"/>
                </a:solidFill>
              </a:defRPr>
            </a:lvl1pPr>
          </a:lstStyle>
          <a:p>
            <a:pPr/>
            <a:r>
              <a:t>Davies-Bouldin Index</a:t>
            </a:r>
          </a:p>
        </p:txBody>
      </p:sp>
      <p:sp>
        <p:nvSpPr>
          <p:cNvPr id="295" name="Text 12"/>
          <p:cNvSpPr txBox="1"/>
          <p:nvPr/>
        </p:nvSpPr>
        <p:spPr>
          <a:xfrm>
            <a:off x="4864608" y="1296075"/>
            <a:ext cx="37490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Range: [0, ∞)   Best: 0</a:t>
            </a:r>
          </a:p>
        </p:txBody>
      </p:sp>
      <p:sp>
        <p:nvSpPr>
          <p:cNvPr id="296" name="Text 13"/>
          <p:cNvSpPr txBox="1"/>
          <p:nvPr/>
        </p:nvSpPr>
        <p:spPr>
          <a:xfrm>
            <a:off x="4864608" y="1670978"/>
            <a:ext cx="37490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Ratio of within-cluster scatter to between-cluster separation. Lower is better.</a:t>
            </a:r>
          </a:p>
        </p:txBody>
      </p:sp>
      <p:sp>
        <p:nvSpPr>
          <p:cNvPr id="297" name="Shape 14"/>
          <p:cNvSpPr/>
          <p:nvPr/>
        </p:nvSpPr>
        <p:spPr>
          <a:xfrm>
            <a:off x="274319" y="2286000"/>
            <a:ext cx="4160522" cy="1188720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8" name="Shape 15"/>
          <p:cNvSpPr/>
          <p:nvPr/>
        </p:nvSpPr>
        <p:spPr>
          <a:xfrm>
            <a:off x="3703320" y="2285999"/>
            <a:ext cx="731521" cy="292610"/>
          </a:xfrm>
          <a:prstGeom prst="rect">
            <a:avLst/>
          </a:prstGeom>
          <a:solidFill>
            <a:srgbClr val="0E66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Text 16"/>
          <p:cNvSpPr txBox="1"/>
          <p:nvPr/>
        </p:nvSpPr>
        <p:spPr>
          <a:xfrm>
            <a:off x="3675888" y="2368804"/>
            <a:ext cx="731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External</a:t>
            </a:r>
          </a:p>
        </p:txBody>
      </p:sp>
      <p:sp>
        <p:nvSpPr>
          <p:cNvPr id="300" name="Text 17"/>
          <p:cNvSpPr txBox="1"/>
          <p:nvPr/>
        </p:nvSpPr>
        <p:spPr>
          <a:xfrm>
            <a:off x="429767" y="2372159"/>
            <a:ext cx="3108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D9488"/>
                </a:solidFill>
              </a:defRPr>
            </a:lvl1pPr>
          </a:lstStyle>
          <a:p>
            <a:pPr/>
            <a:r>
              <a:t>Adjusted Rand Index</a:t>
            </a:r>
          </a:p>
        </p:txBody>
      </p:sp>
      <p:sp>
        <p:nvSpPr>
          <p:cNvPr id="301" name="Text 18"/>
          <p:cNvSpPr txBox="1"/>
          <p:nvPr/>
        </p:nvSpPr>
        <p:spPr>
          <a:xfrm>
            <a:off x="429768" y="2667675"/>
            <a:ext cx="37490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Range: [-1, +1]   Best: +1</a:t>
            </a:r>
          </a:p>
        </p:txBody>
      </p:sp>
      <p:sp>
        <p:nvSpPr>
          <p:cNvPr id="302" name="Text 19"/>
          <p:cNvSpPr txBox="1"/>
          <p:nvPr/>
        </p:nvSpPr>
        <p:spPr>
          <a:xfrm>
            <a:off x="429768" y="3042578"/>
            <a:ext cx="37490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Compares cluster assignments against ground truth. Corrects for chance.</a:t>
            </a:r>
          </a:p>
        </p:txBody>
      </p:sp>
      <p:sp>
        <p:nvSpPr>
          <p:cNvPr id="303" name="Shape 20"/>
          <p:cNvSpPr/>
          <p:nvPr/>
        </p:nvSpPr>
        <p:spPr>
          <a:xfrm>
            <a:off x="4709159" y="2286000"/>
            <a:ext cx="4160521" cy="1188720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4" name="Shape 21"/>
          <p:cNvSpPr/>
          <p:nvPr/>
        </p:nvSpPr>
        <p:spPr>
          <a:xfrm>
            <a:off x="8138159" y="2285999"/>
            <a:ext cx="731521" cy="292610"/>
          </a:xfrm>
          <a:prstGeom prst="rect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Text 22"/>
          <p:cNvSpPr txBox="1"/>
          <p:nvPr/>
        </p:nvSpPr>
        <p:spPr>
          <a:xfrm>
            <a:off x="8110728" y="2368804"/>
            <a:ext cx="731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Internal</a:t>
            </a:r>
          </a:p>
        </p:txBody>
      </p:sp>
      <p:sp>
        <p:nvSpPr>
          <p:cNvPr id="306" name="Text 23"/>
          <p:cNvSpPr txBox="1"/>
          <p:nvPr/>
        </p:nvSpPr>
        <p:spPr>
          <a:xfrm>
            <a:off x="4864608" y="2372159"/>
            <a:ext cx="3108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D9488"/>
                </a:solidFill>
              </a:defRPr>
            </a:lvl1pPr>
          </a:lstStyle>
          <a:p>
            <a:pPr/>
            <a:r>
              <a:t>Calinski-Harabász</a:t>
            </a:r>
          </a:p>
        </p:txBody>
      </p:sp>
      <p:sp>
        <p:nvSpPr>
          <p:cNvPr id="307" name="Text 24"/>
          <p:cNvSpPr txBox="1"/>
          <p:nvPr/>
        </p:nvSpPr>
        <p:spPr>
          <a:xfrm>
            <a:off x="4864608" y="2667675"/>
            <a:ext cx="37490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Range: [0, ∞)   Best: High</a:t>
            </a:r>
          </a:p>
        </p:txBody>
      </p:sp>
      <p:sp>
        <p:nvSpPr>
          <p:cNvPr id="308" name="Text 25"/>
          <p:cNvSpPr txBox="1"/>
          <p:nvPr/>
        </p:nvSpPr>
        <p:spPr>
          <a:xfrm>
            <a:off x="4864608" y="3042578"/>
            <a:ext cx="37490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Ratio of between-cluster to within-cluster dispersion. Fast to compute.</a:t>
            </a:r>
          </a:p>
        </p:txBody>
      </p:sp>
      <p:sp>
        <p:nvSpPr>
          <p:cNvPr id="309" name="Shape 26"/>
          <p:cNvSpPr/>
          <p:nvPr/>
        </p:nvSpPr>
        <p:spPr>
          <a:xfrm>
            <a:off x="274319" y="3657600"/>
            <a:ext cx="4160522" cy="1188720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" name="Shape 27"/>
          <p:cNvSpPr/>
          <p:nvPr/>
        </p:nvSpPr>
        <p:spPr>
          <a:xfrm>
            <a:off x="3703320" y="3657599"/>
            <a:ext cx="731521" cy="292610"/>
          </a:xfrm>
          <a:prstGeom prst="rect">
            <a:avLst/>
          </a:prstGeom>
          <a:solidFill>
            <a:srgbClr val="0E66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Text 28"/>
          <p:cNvSpPr txBox="1"/>
          <p:nvPr/>
        </p:nvSpPr>
        <p:spPr>
          <a:xfrm>
            <a:off x="3675888" y="3740404"/>
            <a:ext cx="731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External</a:t>
            </a:r>
          </a:p>
        </p:txBody>
      </p:sp>
      <p:sp>
        <p:nvSpPr>
          <p:cNvPr id="312" name="Text 29"/>
          <p:cNvSpPr txBox="1"/>
          <p:nvPr/>
        </p:nvSpPr>
        <p:spPr>
          <a:xfrm>
            <a:off x="429767" y="3743759"/>
            <a:ext cx="3108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D9488"/>
                </a:solidFill>
              </a:defRPr>
            </a:lvl1pPr>
          </a:lstStyle>
          <a:p>
            <a:pPr/>
            <a:r>
              <a:t>Purity / Entropy</a:t>
            </a:r>
          </a:p>
        </p:txBody>
      </p:sp>
      <p:sp>
        <p:nvSpPr>
          <p:cNvPr id="313" name="Text 30"/>
          <p:cNvSpPr txBox="1"/>
          <p:nvPr/>
        </p:nvSpPr>
        <p:spPr>
          <a:xfrm>
            <a:off x="429768" y="4039275"/>
            <a:ext cx="37490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Range: [0, 1]   Best: 1 / 0</a:t>
            </a:r>
          </a:p>
        </p:txBody>
      </p:sp>
      <p:sp>
        <p:nvSpPr>
          <p:cNvPr id="314" name="Text 31"/>
          <p:cNvSpPr txBox="1"/>
          <p:nvPr/>
        </p:nvSpPr>
        <p:spPr>
          <a:xfrm>
            <a:off x="429768" y="4414178"/>
            <a:ext cx="37490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Measures class homogeneity within clusters. Used in text clustering (P2).</a:t>
            </a:r>
          </a:p>
        </p:txBody>
      </p:sp>
      <p:sp>
        <p:nvSpPr>
          <p:cNvPr id="315" name="Shape 32"/>
          <p:cNvSpPr/>
          <p:nvPr/>
        </p:nvSpPr>
        <p:spPr>
          <a:xfrm>
            <a:off x="4709159" y="3657600"/>
            <a:ext cx="4160521" cy="1188720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6" name="Shape 33"/>
          <p:cNvSpPr/>
          <p:nvPr/>
        </p:nvSpPr>
        <p:spPr>
          <a:xfrm>
            <a:off x="8138159" y="3657599"/>
            <a:ext cx="731521" cy="292610"/>
          </a:xfrm>
          <a:prstGeom prst="rect">
            <a:avLst/>
          </a:prstGeom>
          <a:solidFill>
            <a:srgbClr val="0E66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7" name="Text 34"/>
          <p:cNvSpPr txBox="1"/>
          <p:nvPr/>
        </p:nvSpPr>
        <p:spPr>
          <a:xfrm>
            <a:off x="8110728" y="3740404"/>
            <a:ext cx="731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External</a:t>
            </a:r>
          </a:p>
        </p:txBody>
      </p:sp>
      <p:sp>
        <p:nvSpPr>
          <p:cNvPr id="318" name="Text 35"/>
          <p:cNvSpPr txBox="1"/>
          <p:nvPr/>
        </p:nvSpPr>
        <p:spPr>
          <a:xfrm>
            <a:off x="4864608" y="3743759"/>
            <a:ext cx="3108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D9488"/>
                </a:solidFill>
              </a:defRPr>
            </a:lvl1pPr>
          </a:lstStyle>
          <a:p>
            <a:pPr/>
            <a:r>
              <a:t>NMI / V-Measure</a:t>
            </a:r>
          </a:p>
        </p:txBody>
      </p:sp>
      <p:sp>
        <p:nvSpPr>
          <p:cNvPr id="319" name="Text 36"/>
          <p:cNvSpPr txBox="1"/>
          <p:nvPr/>
        </p:nvSpPr>
        <p:spPr>
          <a:xfrm>
            <a:off x="4864608" y="4039275"/>
            <a:ext cx="37490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Range: [0, 1]   Best: 1</a:t>
            </a:r>
          </a:p>
        </p:txBody>
      </p:sp>
      <p:sp>
        <p:nvSpPr>
          <p:cNvPr id="320" name="Text 37"/>
          <p:cNvSpPr txBox="1"/>
          <p:nvPr/>
        </p:nvSpPr>
        <p:spPr>
          <a:xfrm>
            <a:off x="4864608" y="4414178"/>
            <a:ext cx="37490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Information-theoretic measure. Symmetric and handles varying cluster sizes.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922B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3" name="Text 1"/>
          <p:cNvSpPr txBox="1"/>
          <p:nvPr/>
        </p:nvSpPr>
        <p:spPr>
          <a:xfrm>
            <a:off x="411479" y="188076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Open Challenges</a:t>
            </a:r>
          </a:p>
        </p:txBody>
      </p:sp>
      <p:sp>
        <p:nvSpPr>
          <p:cNvPr id="324" name="Shape 2"/>
          <p:cNvSpPr/>
          <p:nvPr/>
        </p:nvSpPr>
        <p:spPr>
          <a:xfrm>
            <a:off x="274319" y="960119"/>
            <a:ext cx="4160522" cy="1188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5" name="Shape 3"/>
          <p:cNvSpPr/>
          <p:nvPr/>
        </p:nvSpPr>
        <p:spPr>
          <a:xfrm>
            <a:off x="274320" y="960119"/>
            <a:ext cx="457201" cy="1188721"/>
          </a:xfrm>
          <a:prstGeom prst="rect">
            <a:avLst/>
          </a:prstGeom>
          <a:solidFill>
            <a:srgbClr val="F9EBE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6" name="Text 4"/>
          <p:cNvSpPr txBox="1"/>
          <p:nvPr/>
        </p:nvSpPr>
        <p:spPr>
          <a:xfrm>
            <a:off x="320040" y="1411732"/>
            <a:ext cx="365761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⚠</a:t>
            </a:r>
          </a:p>
        </p:txBody>
      </p:sp>
      <p:sp>
        <p:nvSpPr>
          <p:cNvPr id="327" name="Text 5"/>
          <p:cNvSpPr txBox="1"/>
          <p:nvPr/>
        </p:nvSpPr>
        <p:spPr>
          <a:xfrm>
            <a:off x="868679" y="1064567"/>
            <a:ext cx="33832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922B21"/>
                </a:solidFill>
              </a:defRPr>
            </a:lvl1pPr>
          </a:lstStyle>
          <a:p>
            <a:pPr/>
            <a:r>
              <a:t>High-Dimensional Data</a:t>
            </a:r>
          </a:p>
        </p:txBody>
      </p:sp>
      <p:sp>
        <p:nvSpPr>
          <p:cNvPr id="328" name="Text 6"/>
          <p:cNvSpPr txBox="1"/>
          <p:nvPr/>
        </p:nvSpPr>
        <p:spPr>
          <a:xfrm>
            <a:off x="868679" y="1439716"/>
            <a:ext cx="3383282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Distance metrics become meaningless (curse of dimensionality). Dimensionality reduction (PCA, t-SNE, UMAP) is often a prerequisite (P3).</a:t>
            </a:r>
          </a:p>
        </p:txBody>
      </p:sp>
      <p:sp>
        <p:nvSpPr>
          <p:cNvPr id="329" name="Shape 7"/>
          <p:cNvSpPr/>
          <p:nvPr/>
        </p:nvSpPr>
        <p:spPr>
          <a:xfrm>
            <a:off x="4709159" y="960119"/>
            <a:ext cx="4160521" cy="1188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" name="Shape 8"/>
          <p:cNvSpPr/>
          <p:nvPr/>
        </p:nvSpPr>
        <p:spPr>
          <a:xfrm>
            <a:off x="4709159" y="960119"/>
            <a:ext cx="457201" cy="1188721"/>
          </a:xfrm>
          <a:prstGeom prst="rect">
            <a:avLst/>
          </a:prstGeom>
          <a:solidFill>
            <a:srgbClr val="F9EBE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1" name="Text 9"/>
          <p:cNvSpPr txBox="1"/>
          <p:nvPr/>
        </p:nvSpPr>
        <p:spPr>
          <a:xfrm>
            <a:off x="4754879" y="1411732"/>
            <a:ext cx="365761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⚠</a:t>
            </a:r>
          </a:p>
        </p:txBody>
      </p:sp>
      <p:sp>
        <p:nvSpPr>
          <p:cNvPr id="332" name="Text 10"/>
          <p:cNvSpPr txBox="1"/>
          <p:nvPr/>
        </p:nvSpPr>
        <p:spPr>
          <a:xfrm>
            <a:off x="5303519" y="1064567"/>
            <a:ext cx="33832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922B21"/>
                </a:solidFill>
              </a:defRPr>
            </a:lvl1pPr>
          </a:lstStyle>
          <a:p>
            <a:pPr/>
            <a:r>
              <a:t>Choosing Number of Clusters</a:t>
            </a:r>
          </a:p>
        </p:txBody>
      </p:sp>
      <p:sp>
        <p:nvSpPr>
          <p:cNvPr id="333" name="Text 11"/>
          <p:cNvSpPr txBox="1"/>
          <p:nvPr/>
        </p:nvSpPr>
        <p:spPr>
          <a:xfrm>
            <a:off x="5303519" y="1439716"/>
            <a:ext cx="3383282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No universally optimal method. Elbow method, silhouette scores, and BIC each have drawbacks — subjective in practice (P1, P2).</a:t>
            </a:r>
          </a:p>
        </p:txBody>
      </p:sp>
      <p:sp>
        <p:nvSpPr>
          <p:cNvPr id="334" name="Shape 12"/>
          <p:cNvSpPr/>
          <p:nvPr/>
        </p:nvSpPr>
        <p:spPr>
          <a:xfrm>
            <a:off x="274319" y="2286000"/>
            <a:ext cx="4160522" cy="11887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5" name="Shape 13"/>
          <p:cNvSpPr/>
          <p:nvPr/>
        </p:nvSpPr>
        <p:spPr>
          <a:xfrm>
            <a:off x="274320" y="2286000"/>
            <a:ext cx="457201" cy="1188720"/>
          </a:xfrm>
          <a:prstGeom prst="rect">
            <a:avLst/>
          </a:prstGeom>
          <a:solidFill>
            <a:srgbClr val="F9EBE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Text 14"/>
          <p:cNvSpPr txBox="1"/>
          <p:nvPr/>
        </p:nvSpPr>
        <p:spPr>
          <a:xfrm>
            <a:off x="320040" y="2737612"/>
            <a:ext cx="365761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⚠</a:t>
            </a:r>
          </a:p>
        </p:txBody>
      </p:sp>
      <p:sp>
        <p:nvSpPr>
          <p:cNvPr id="337" name="Text 15"/>
          <p:cNvSpPr txBox="1"/>
          <p:nvPr/>
        </p:nvSpPr>
        <p:spPr>
          <a:xfrm>
            <a:off x="868679" y="2390447"/>
            <a:ext cx="33832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922B21"/>
                </a:solidFill>
              </a:defRPr>
            </a:lvl1pPr>
          </a:lstStyle>
          <a:p>
            <a:pPr/>
            <a:r>
              <a:t>Noise and Outliers</a:t>
            </a:r>
          </a:p>
        </p:txBody>
      </p:sp>
      <p:sp>
        <p:nvSpPr>
          <p:cNvPr id="338" name="Text 16"/>
          <p:cNvSpPr txBox="1"/>
          <p:nvPr/>
        </p:nvSpPr>
        <p:spPr>
          <a:xfrm>
            <a:off x="868679" y="2848146"/>
            <a:ext cx="338328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Unaddressed noise can distort cluster boundaries and inflate within-cluster variance, leading to erroneous groupings (P2).</a:t>
            </a:r>
          </a:p>
        </p:txBody>
      </p:sp>
      <p:sp>
        <p:nvSpPr>
          <p:cNvPr id="339" name="Shape 17"/>
          <p:cNvSpPr/>
          <p:nvPr/>
        </p:nvSpPr>
        <p:spPr>
          <a:xfrm>
            <a:off x="4709159" y="2286000"/>
            <a:ext cx="4160521" cy="11887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0" name="Shape 18"/>
          <p:cNvSpPr/>
          <p:nvPr/>
        </p:nvSpPr>
        <p:spPr>
          <a:xfrm>
            <a:off x="4709159" y="2286000"/>
            <a:ext cx="457201" cy="1188720"/>
          </a:xfrm>
          <a:prstGeom prst="rect">
            <a:avLst/>
          </a:prstGeom>
          <a:solidFill>
            <a:srgbClr val="F9EBE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1" name="Text 19"/>
          <p:cNvSpPr txBox="1"/>
          <p:nvPr/>
        </p:nvSpPr>
        <p:spPr>
          <a:xfrm>
            <a:off x="4754879" y="2737612"/>
            <a:ext cx="365761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⚠</a:t>
            </a:r>
          </a:p>
        </p:txBody>
      </p:sp>
      <p:sp>
        <p:nvSpPr>
          <p:cNvPr id="342" name="Text 20"/>
          <p:cNvSpPr txBox="1"/>
          <p:nvPr/>
        </p:nvSpPr>
        <p:spPr>
          <a:xfrm>
            <a:off x="5303519" y="2390447"/>
            <a:ext cx="33832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922B21"/>
                </a:solidFill>
              </a:defRPr>
            </a:lvl1pPr>
          </a:lstStyle>
          <a:p>
            <a:pPr/>
            <a:r>
              <a:t>Mixed Data Types</a:t>
            </a:r>
          </a:p>
        </p:txBody>
      </p:sp>
      <p:sp>
        <p:nvSpPr>
          <p:cNvPr id="343" name="Text 21"/>
          <p:cNvSpPr txBox="1"/>
          <p:nvPr/>
        </p:nvSpPr>
        <p:spPr>
          <a:xfrm>
            <a:off x="5303519" y="2848146"/>
            <a:ext cx="338328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Combining categorical and numerical features is non-trivial. Standard Euclidean distance fails on encoded categoricals (P2).</a:t>
            </a:r>
          </a:p>
        </p:txBody>
      </p:sp>
      <p:sp>
        <p:nvSpPr>
          <p:cNvPr id="344" name="Shape 22"/>
          <p:cNvSpPr/>
          <p:nvPr/>
        </p:nvSpPr>
        <p:spPr>
          <a:xfrm>
            <a:off x="274319" y="3611879"/>
            <a:ext cx="4160522" cy="1188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" name="Shape 23"/>
          <p:cNvSpPr/>
          <p:nvPr/>
        </p:nvSpPr>
        <p:spPr>
          <a:xfrm>
            <a:off x="274320" y="3611879"/>
            <a:ext cx="457201" cy="1188721"/>
          </a:xfrm>
          <a:prstGeom prst="rect">
            <a:avLst/>
          </a:prstGeom>
          <a:solidFill>
            <a:srgbClr val="F9EBE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Text 24"/>
          <p:cNvSpPr txBox="1"/>
          <p:nvPr/>
        </p:nvSpPr>
        <p:spPr>
          <a:xfrm>
            <a:off x="320040" y="4063492"/>
            <a:ext cx="3657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⚠</a:t>
            </a:r>
          </a:p>
        </p:txBody>
      </p:sp>
      <p:sp>
        <p:nvSpPr>
          <p:cNvPr id="347" name="Text 25"/>
          <p:cNvSpPr txBox="1"/>
          <p:nvPr/>
        </p:nvSpPr>
        <p:spPr>
          <a:xfrm>
            <a:off x="868679" y="3716327"/>
            <a:ext cx="33832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922B21"/>
                </a:solidFill>
              </a:defRPr>
            </a:lvl1pPr>
          </a:lstStyle>
          <a:p>
            <a:pPr/>
            <a:r>
              <a:t>Scalability</a:t>
            </a:r>
          </a:p>
        </p:txBody>
      </p:sp>
      <p:sp>
        <p:nvSpPr>
          <p:cNvPr id="348" name="Text 26"/>
          <p:cNvSpPr txBox="1"/>
          <p:nvPr/>
        </p:nvSpPr>
        <p:spPr>
          <a:xfrm>
            <a:off x="868679" y="4174026"/>
            <a:ext cx="338328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Hierarchical and spectral methods are O(n²)–O(n³). Anchor-based and mini-batch approaches partially address this (P4).</a:t>
            </a:r>
          </a:p>
        </p:txBody>
      </p:sp>
      <p:sp>
        <p:nvSpPr>
          <p:cNvPr id="349" name="Shape 27"/>
          <p:cNvSpPr/>
          <p:nvPr/>
        </p:nvSpPr>
        <p:spPr>
          <a:xfrm>
            <a:off x="4709159" y="3611879"/>
            <a:ext cx="4160521" cy="1188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0" name="Shape 28"/>
          <p:cNvSpPr/>
          <p:nvPr/>
        </p:nvSpPr>
        <p:spPr>
          <a:xfrm>
            <a:off x="4709159" y="3611879"/>
            <a:ext cx="457201" cy="1188721"/>
          </a:xfrm>
          <a:prstGeom prst="rect">
            <a:avLst/>
          </a:prstGeom>
          <a:solidFill>
            <a:srgbClr val="F9EBE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Text 29"/>
          <p:cNvSpPr txBox="1"/>
          <p:nvPr/>
        </p:nvSpPr>
        <p:spPr>
          <a:xfrm>
            <a:off x="4754879" y="4063492"/>
            <a:ext cx="3657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⚠</a:t>
            </a:r>
          </a:p>
        </p:txBody>
      </p:sp>
      <p:sp>
        <p:nvSpPr>
          <p:cNvPr id="352" name="Text 30"/>
          <p:cNvSpPr txBox="1"/>
          <p:nvPr/>
        </p:nvSpPr>
        <p:spPr>
          <a:xfrm>
            <a:off x="5303519" y="3716327"/>
            <a:ext cx="33832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922B21"/>
                </a:solidFill>
              </a:defRPr>
            </a:lvl1pPr>
          </a:lstStyle>
          <a:p>
            <a:pPr/>
            <a:r>
              <a:t>Imbalanced Clusters</a:t>
            </a:r>
          </a:p>
        </p:txBody>
      </p:sp>
      <p:sp>
        <p:nvSpPr>
          <p:cNvPr id="353" name="Text 31"/>
          <p:cNvSpPr txBox="1"/>
          <p:nvPr/>
        </p:nvSpPr>
        <p:spPr>
          <a:xfrm>
            <a:off x="5303519" y="4091476"/>
            <a:ext cx="3383282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E293B"/>
                </a:solidFill>
              </a:defRPr>
            </a:lvl1pPr>
          </a:lstStyle>
          <a:p>
            <a:pPr/>
            <a:r>
              <a:t>Deep embedded methods and K-Means both struggle when clusters have very different sizes. Minority clusters are often absorbed (P2).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6" name="Text 1"/>
          <p:cNvSpPr txBox="1"/>
          <p:nvPr/>
        </p:nvSpPr>
        <p:spPr>
          <a:xfrm>
            <a:off x="411479" y="188076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Future Research Directions</a:t>
            </a:r>
          </a:p>
        </p:txBody>
      </p:sp>
      <p:sp>
        <p:nvSpPr>
          <p:cNvPr id="357" name="Shape 2"/>
          <p:cNvSpPr/>
          <p:nvPr/>
        </p:nvSpPr>
        <p:spPr>
          <a:xfrm>
            <a:off x="228600" y="914400"/>
            <a:ext cx="2743200" cy="1828800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8" name="Shape 3"/>
          <p:cNvSpPr/>
          <p:nvPr/>
        </p:nvSpPr>
        <p:spPr>
          <a:xfrm>
            <a:off x="228600" y="914400"/>
            <a:ext cx="2743200" cy="54864"/>
          </a:xfrm>
          <a:prstGeom prst="rect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9" name="Text 4"/>
          <p:cNvSpPr txBox="1"/>
          <p:nvPr/>
        </p:nvSpPr>
        <p:spPr>
          <a:xfrm>
            <a:off x="365760" y="1025460"/>
            <a:ext cx="3657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C7293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60" name="Text 5"/>
          <p:cNvSpPr txBox="1"/>
          <p:nvPr/>
        </p:nvSpPr>
        <p:spPr>
          <a:xfrm>
            <a:off x="365759" y="1423338"/>
            <a:ext cx="246888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C7293"/>
                </a:solidFill>
              </a:defRPr>
            </a:lvl1pPr>
          </a:lstStyle>
          <a:p>
            <a:pPr/>
            <a:r>
              <a:t>Parameter-Free Algorithms</a:t>
            </a:r>
          </a:p>
        </p:txBody>
      </p:sp>
      <p:sp>
        <p:nvSpPr>
          <p:cNvPr id="361" name="Text 6"/>
          <p:cNvSpPr txBox="1"/>
          <p:nvPr/>
        </p:nvSpPr>
        <p:spPr>
          <a:xfrm>
            <a:off x="365759" y="1970191"/>
            <a:ext cx="2468882" cy="48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Developing methods that don't require k or ε — removing the biggest barrier to practical use. K* and HDBSCAN are early steps (P1, P3).</a:t>
            </a:r>
          </a:p>
        </p:txBody>
      </p:sp>
      <p:sp>
        <p:nvSpPr>
          <p:cNvPr id="362" name="Shape 7"/>
          <p:cNvSpPr/>
          <p:nvPr/>
        </p:nvSpPr>
        <p:spPr>
          <a:xfrm>
            <a:off x="3154679" y="914400"/>
            <a:ext cx="2743201" cy="1828800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3" name="Shape 8"/>
          <p:cNvSpPr/>
          <p:nvPr/>
        </p:nvSpPr>
        <p:spPr>
          <a:xfrm>
            <a:off x="3154679" y="914400"/>
            <a:ext cx="2743201" cy="54864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4" name="Text 9"/>
          <p:cNvSpPr txBox="1"/>
          <p:nvPr/>
        </p:nvSpPr>
        <p:spPr>
          <a:xfrm>
            <a:off x="3291840" y="1025460"/>
            <a:ext cx="3657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0D9488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65" name="Text 10"/>
          <p:cNvSpPr txBox="1"/>
          <p:nvPr/>
        </p:nvSpPr>
        <p:spPr>
          <a:xfrm>
            <a:off x="3291840" y="1340788"/>
            <a:ext cx="246888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0D9488"/>
                </a:solidFill>
              </a:defRPr>
            </a:lvl1pPr>
          </a:lstStyle>
          <a:p>
            <a:pPr/>
            <a:r>
              <a:t>Federated &amp; Privacy-Preserving Clustering</a:t>
            </a:r>
          </a:p>
        </p:txBody>
      </p:sp>
      <p:sp>
        <p:nvSpPr>
          <p:cNvPr id="366" name="Text 11"/>
          <p:cNvSpPr txBox="1"/>
          <p:nvPr/>
        </p:nvSpPr>
        <p:spPr>
          <a:xfrm>
            <a:off x="3291840" y="1970191"/>
            <a:ext cx="2468881" cy="48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Enabling clustering without centralizing sensitive data. Critical for healthcare and finance applications (P1).</a:t>
            </a:r>
          </a:p>
        </p:txBody>
      </p:sp>
      <p:sp>
        <p:nvSpPr>
          <p:cNvPr id="367" name="Shape 12"/>
          <p:cNvSpPr/>
          <p:nvPr/>
        </p:nvSpPr>
        <p:spPr>
          <a:xfrm>
            <a:off x="6080759" y="914400"/>
            <a:ext cx="2743201" cy="1828800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" name="Shape 13"/>
          <p:cNvSpPr/>
          <p:nvPr/>
        </p:nvSpPr>
        <p:spPr>
          <a:xfrm>
            <a:off x="6080759" y="914400"/>
            <a:ext cx="2743201" cy="54864"/>
          </a:xfrm>
          <a:prstGeom prst="rect">
            <a:avLst/>
          </a:prstGeom>
          <a:solidFill>
            <a:srgbClr val="1F618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9" name="Text 14"/>
          <p:cNvSpPr txBox="1"/>
          <p:nvPr/>
        </p:nvSpPr>
        <p:spPr>
          <a:xfrm>
            <a:off x="6217919" y="1025460"/>
            <a:ext cx="3657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F618D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70" name="Text 15"/>
          <p:cNvSpPr txBox="1"/>
          <p:nvPr/>
        </p:nvSpPr>
        <p:spPr>
          <a:xfrm>
            <a:off x="6217919" y="1423338"/>
            <a:ext cx="246888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F618D"/>
                </a:solidFill>
              </a:defRPr>
            </a:lvl1pPr>
          </a:lstStyle>
          <a:p>
            <a:pPr/>
            <a:r>
              <a:t>Streaming Data Clustering</a:t>
            </a:r>
          </a:p>
        </p:txBody>
      </p:sp>
      <p:sp>
        <p:nvSpPr>
          <p:cNvPr id="371" name="Text 16"/>
          <p:cNvSpPr txBox="1"/>
          <p:nvPr/>
        </p:nvSpPr>
        <p:spPr>
          <a:xfrm>
            <a:off x="6217919" y="1970191"/>
            <a:ext cx="2468882" cy="48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Real-time clustering of data arriving in streams. Essential for IoT, social media, and financial systems (P2).</a:t>
            </a:r>
          </a:p>
        </p:txBody>
      </p:sp>
      <p:sp>
        <p:nvSpPr>
          <p:cNvPr id="372" name="Shape 17"/>
          <p:cNvSpPr/>
          <p:nvPr/>
        </p:nvSpPr>
        <p:spPr>
          <a:xfrm>
            <a:off x="228600" y="2926079"/>
            <a:ext cx="2743200" cy="1828801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3" name="Shape 18"/>
          <p:cNvSpPr/>
          <p:nvPr/>
        </p:nvSpPr>
        <p:spPr>
          <a:xfrm>
            <a:off x="228600" y="2926079"/>
            <a:ext cx="2743200" cy="54865"/>
          </a:xfrm>
          <a:prstGeom prst="rect">
            <a:avLst/>
          </a:prstGeom>
          <a:solidFill>
            <a:srgbClr val="0E66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4" name="Text 19"/>
          <p:cNvSpPr txBox="1"/>
          <p:nvPr/>
        </p:nvSpPr>
        <p:spPr>
          <a:xfrm>
            <a:off x="365760" y="3037140"/>
            <a:ext cx="3657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0E6655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75" name="Text 20"/>
          <p:cNvSpPr txBox="1"/>
          <p:nvPr/>
        </p:nvSpPr>
        <p:spPr>
          <a:xfrm>
            <a:off x="365759" y="3435018"/>
            <a:ext cx="246888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0E6655"/>
                </a:solidFill>
              </a:defRPr>
            </a:lvl1pPr>
          </a:lstStyle>
          <a:p>
            <a:pPr/>
            <a:r>
              <a:t>Explainable Clustering</a:t>
            </a:r>
          </a:p>
        </p:txBody>
      </p:sp>
      <p:sp>
        <p:nvSpPr>
          <p:cNvPr id="376" name="Text 21"/>
          <p:cNvSpPr txBox="1"/>
          <p:nvPr/>
        </p:nvSpPr>
        <p:spPr>
          <a:xfrm>
            <a:off x="365759" y="3981871"/>
            <a:ext cx="2468882" cy="48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Making cluster decisions interpretable. Practitioners demand understanding of why points were grouped together (P1, P2).</a:t>
            </a:r>
          </a:p>
        </p:txBody>
      </p:sp>
      <p:sp>
        <p:nvSpPr>
          <p:cNvPr id="377" name="Shape 22"/>
          <p:cNvSpPr/>
          <p:nvPr/>
        </p:nvSpPr>
        <p:spPr>
          <a:xfrm>
            <a:off x="3154679" y="2926079"/>
            <a:ext cx="2743201" cy="1828801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8" name="Shape 23"/>
          <p:cNvSpPr/>
          <p:nvPr/>
        </p:nvSpPr>
        <p:spPr>
          <a:xfrm>
            <a:off x="3154679" y="2926079"/>
            <a:ext cx="2743201" cy="54865"/>
          </a:xfrm>
          <a:prstGeom prst="rect">
            <a:avLst/>
          </a:prstGeom>
          <a:solidFill>
            <a:srgbClr val="5B2C6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9" name="Text 24"/>
          <p:cNvSpPr txBox="1"/>
          <p:nvPr/>
        </p:nvSpPr>
        <p:spPr>
          <a:xfrm>
            <a:off x="3291840" y="3037140"/>
            <a:ext cx="3657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5B2C6F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380" name="Text 25"/>
          <p:cNvSpPr txBox="1"/>
          <p:nvPr/>
        </p:nvSpPr>
        <p:spPr>
          <a:xfrm>
            <a:off x="3291840" y="3435018"/>
            <a:ext cx="24688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5B2C6F"/>
                </a:solidFill>
              </a:defRPr>
            </a:lvl1pPr>
          </a:lstStyle>
          <a:p>
            <a:pPr/>
            <a:r>
              <a:t>Self-Supervised Pre-Training</a:t>
            </a:r>
          </a:p>
        </p:txBody>
      </p:sp>
      <p:sp>
        <p:nvSpPr>
          <p:cNvPr id="381" name="Text 26"/>
          <p:cNvSpPr txBox="1"/>
          <p:nvPr/>
        </p:nvSpPr>
        <p:spPr>
          <a:xfrm>
            <a:off x="3291840" y="3981871"/>
            <a:ext cx="2468881" cy="48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Using contrastive learning and masked autoencoders as pre-training for deep clustering. Reduces need for labeled data (P5).</a:t>
            </a:r>
          </a:p>
        </p:txBody>
      </p:sp>
      <p:sp>
        <p:nvSpPr>
          <p:cNvPr id="382" name="Shape 27"/>
          <p:cNvSpPr/>
          <p:nvPr/>
        </p:nvSpPr>
        <p:spPr>
          <a:xfrm>
            <a:off x="6080759" y="2926079"/>
            <a:ext cx="2743201" cy="1828801"/>
          </a:xfrm>
          <a:prstGeom prst="rect">
            <a:avLst/>
          </a:prstGeom>
          <a:solidFill>
            <a:srgbClr val="0D2137"/>
          </a:solidFill>
          <a:ln w="12700">
            <a:miter lim="400000"/>
          </a:ln>
          <a:effectLst>
            <a:outerShdw sx="100000" sy="100000" kx="0" ky="0" algn="b" rotWithShape="0" blurRad="635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3" name="Shape 28"/>
          <p:cNvSpPr/>
          <p:nvPr/>
        </p:nvSpPr>
        <p:spPr>
          <a:xfrm>
            <a:off x="6080759" y="2926079"/>
            <a:ext cx="2743201" cy="54865"/>
          </a:xfrm>
          <a:prstGeom prst="rect">
            <a:avLst/>
          </a:prstGeom>
          <a:solidFill>
            <a:srgbClr val="78421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ext 29"/>
          <p:cNvSpPr txBox="1"/>
          <p:nvPr/>
        </p:nvSpPr>
        <p:spPr>
          <a:xfrm>
            <a:off x="6217919" y="3037140"/>
            <a:ext cx="3657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784212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385" name="Text 30"/>
          <p:cNvSpPr txBox="1"/>
          <p:nvPr/>
        </p:nvSpPr>
        <p:spPr>
          <a:xfrm>
            <a:off x="6217919" y="3435018"/>
            <a:ext cx="246888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784212"/>
                </a:solidFill>
              </a:defRPr>
            </a:lvl1pPr>
          </a:lstStyle>
          <a:p>
            <a:pPr/>
            <a:r>
              <a:t>Cross-Modal Clustering</a:t>
            </a:r>
          </a:p>
        </p:txBody>
      </p:sp>
      <p:sp>
        <p:nvSpPr>
          <p:cNvPr id="386" name="Text 31"/>
          <p:cNvSpPr txBox="1"/>
          <p:nvPr/>
        </p:nvSpPr>
        <p:spPr>
          <a:xfrm>
            <a:off x="6217919" y="3981871"/>
            <a:ext cx="2468882" cy="48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Unified clustering across text, image, and graph modalities. Multi-view spectral methods are promising foundations (P4).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9" name="Text 1"/>
          <p:cNvSpPr txBox="1"/>
          <p:nvPr/>
        </p:nvSpPr>
        <p:spPr>
          <a:xfrm>
            <a:off x="320039" y="241651"/>
            <a:ext cx="4114802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390" name="Shape 2"/>
          <p:cNvSpPr/>
          <p:nvPr/>
        </p:nvSpPr>
        <p:spPr>
          <a:xfrm>
            <a:off x="274320" y="758951"/>
            <a:ext cx="3200401" cy="27433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1" name="Text 3"/>
          <p:cNvSpPr txBox="1"/>
          <p:nvPr/>
        </p:nvSpPr>
        <p:spPr>
          <a:xfrm>
            <a:off x="320039" y="1046778"/>
            <a:ext cx="411480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/>
            <a:r>
              <a:t>→  No single algorithm is universally best — choice depends on data characteristics.</a:t>
            </a:r>
          </a:p>
        </p:txBody>
      </p:sp>
      <p:sp>
        <p:nvSpPr>
          <p:cNvPr id="392" name="Text 4"/>
          <p:cNvSpPr txBox="1"/>
          <p:nvPr/>
        </p:nvSpPr>
        <p:spPr>
          <a:xfrm>
            <a:off x="320039" y="1686858"/>
            <a:ext cx="411480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/>
            <a:r>
              <a:t>→  DBSCAN excels at irregular shapes and noise; K-Means wins on speed and scale.</a:t>
            </a:r>
          </a:p>
        </p:txBody>
      </p:sp>
      <p:sp>
        <p:nvSpPr>
          <p:cNvPr id="393" name="Text 5"/>
          <p:cNvSpPr txBox="1"/>
          <p:nvPr/>
        </p:nvSpPr>
        <p:spPr>
          <a:xfrm>
            <a:off x="320039" y="2409488"/>
            <a:ext cx="411480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/>
            <a:r>
              <a:t>→  Spectral + UMAP achieves best ARI on complex high-dimensional datasets.</a:t>
            </a:r>
          </a:p>
        </p:txBody>
      </p:sp>
      <p:sp>
        <p:nvSpPr>
          <p:cNvPr id="394" name="Text 6"/>
          <p:cNvSpPr txBox="1"/>
          <p:nvPr/>
        </p:nvSpPr>
        <p:spPr>
          <a:xfrm>
            <a:off x="320039" y="3049568"/>
            <a:ext cx="411480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/>
            <a:r>
              <a:t>→  Deep learning (DEC, GNNs) is rapidly advancing clustering quality.</a:t>
            </a:r>
          </a:p>
        </p:txBody>
      </p:sp>
      <p:sp>
        <p:nvSpPr>
          <p:cNvPr id="395" name="Text 7"/>
          <p:cNvSpPr txBox="1"/>
          <p:nvPr/>
        </p:nvSpPr>
        <p:spPr>
          <a:xfrm>
            <a:off x="320039" y="3689648"/>
            <a:ext cx="411480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/>
            <a:r>
              <a:t>→  Key challenges: scalability, parameter selection, mixed data types.</a:t>
            </a:r>
          </a:p>
        </p:txBody>
      </p:sp>
      <p:sp>
        <p:nvSpPr>
          <p:cNvPr id="396" name="Text 8"/>
          <p:cNvSpPr txBox="1"/>
          <p:nvPr/>
        </p:nvSpPr>
        <p:spPr>
          <a:xfrm>
            <a:off x="320039" y="4329728"/>
            <a:ext cx="411480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/>
            <a:r>
              <a:t>→  Future: parameter-free, privacy-preserving, streaming methods.</a:t>
            </a:r>
          </a:p>
        </p:txBody>
      </p:sp>
      <p:sp>
        <p:nvSpPr>
          <p:cNvPr id="397" name="Shape 9"/>
          <p:cNvSpPr/>
          <p:nvPr/>
        </p:nvSpPr>
        <p:spPr>
          <a:xfrm>
            <a:off x="4754879" y="0"/>
            <a:ext cx="4389121" cy="5143500"/>
          </a:xfrm>
          <a:prstGeom prst="rect">
            <a:avLst/>
          </a:prstGeom>
          <a:solidFill>
            <a:srgbClr val="0614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8" name="Text 10"/>
          <p:cNvSpPr txBox="1"/>
          <p:nvPr/>
        </p:nvSpPr>
        <p:spPr>
          <a:xfrm>
            <a:off x="4983479" y="244936"/>
            <a:ext cx="393192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0D9488"/>
                </a:solidFill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399" name="Text 11"/>
          <p:cNvSpPr txBox="1"/>
          <p:nvPr/>
        </p:nvSpPr>
        <p:spPr>
          <a:xfrm>
            <a:off x="4983479" y="985179"/>
            <a:ext cx="38404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C5D9"/>
                </a:solidFill>
              </a:defRPr>
            </a:lvl1pPr>
          </a:lstStyle>
          <a:p>
            <a:pPr/>
            <a:r>
              <a:t>[P1] Yin et al. A Rapid Review of Clustering Algorithms. arXiv:2401.07389 (2024)</a:t>
            </a:r>
          </a:p>
        </p:txBody>
      </p:sp>
      <p:sp>
        <p:nvSpPr>
          <p:cNvPr id="400" name="Text 12"/>
          <p:cNvSpPr txBox="1"/>
          <p:nvPr/>
        </p:nvSpPr>
        <p:spPr>
          <a:xfrm>
            <a:off x="4983479" y="1573697"/>
            <a:ext cx="384048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C5D9"/>
                </a:solidFill>
              </a:defRPr>
            </a:lvl1pPr>
          </a:lstStyle>
          <a:p>
            <a:pPr/>
            <a:r>
              <a:t>[P2] PeerJ Comp. Sci. Comprehensive Analysis of Clustering Algorithms. PMC11419652 (2024)</a:t>
            </a:r>
          </a:p>
        </p:txBody>
      </p:sp>
      <p:sp>
        <p:nvSpPr>
          <p:cNvPr id="401" name="Text 13"/>
          <p:cNvSpPr txBox="1"/>
          <p:nvPr/>
        </p:nvSpPr>
        <p:spPr>
          <a:xfrm>
            <a:off x="4983479" y="2301915"/>
            <a:ext cx="38404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C5D9"/>
                </a:solidFill>
              </a:defRPr>
            </a:lvl1pPr>
          </a:lstStyle>
          <a:p>
            <a:pPr/>
            <a:r>
              <a:t>[P3] arXiv:2503.23215 — Comparative Analysis on High-Dim. Data (2025)</a:t>
            </a:r>
          </a:p>
        </p:txBody>
      </p:sp>
      <p:sp>
        <p:nvSpPr>
          <p:cNvPr id="402" name="Text 14"/>
          <p:cNvSpPr txBox="1"/>
          <p:nvPr/>
        </p:nvSpPr>
        <p:spPr>
          <a:xfrm>
            <a:off x="4983479" y="2960283"/>
            <a:ext cx="38404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C5D9"/>
                </a:solidFill>
              </a:defRPr>
            </a:lvl1pPr>
          </a:lstStyle>
          <a:p>
            <a:pPr/>
            <a:r>
              <a:t>[P4] arXiv:2501.13597 — Spectral Clustering with GSL Survey (2025)</a:t>
            </a:r>
          </a:p>
        </p:txBody>
      </p:sp>
      <p:sp>
        <p:nvSpPr>
          <p:cNvPr id="403" name="Text 15"/>
          <p:cNvSpPr txBox="1"/>
          <p:nvPr/>
        </p:nvSpPr>
        <p:spPr>
          <a:xfrm>
            <a:off x="4983479" y="3618651"/>
            <a:ext cx="38404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C5D9"/>
                </a:solidFill>
              </a:defRPr>
            </a:lvl1pPr>
          </a:lstStyle>
          <a:p>
            <a:pPr/>
            <a:r>
              <a:t>[P5] Watteau et al. Advanced Graph Clustering. arXiv:2407.09055 (2024)</a:t>
            </a:r>
          </a:p>
        </p:txBody>
      </p:sp>
      <p:sp>
        <p:nvSpPr>
          <p:cNvPr id="404" name="Text 16"/>
          <p:cNvSpPr txBox="1"/>
          <p:nvPr/>
        </p:nvSpPr>
        <p:spPr>
          <a:xfrm>
            <a:off x="4983479" y="4277019"/>
            <a:ext cx="38404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C5D9"/>
                </a:solidFill>
              </a:defRPr>
            </a:lvl1pPr>
          </a:lstStyle>
          <a:p>
            <a:pPr/>
            <a:r>
              <a:t>[P6] Comparative Analysis: DBSCAN, K-Means, Agglom. Atlantis Press (2024)</a:t>
            </a:r>
          </a:p>
        </p:txBody>
      </p:sp>
      <p:sp>
        <p:nvSpPr>
          <p:cNvPr id="405" name="Text 17"/>
          <p:cNvSpPr txBox="1"/>
          <p:nvPr/>
        </p:nvSpPr>
        <p:spPr>
          <a:xfrm>
            <a:off x="4983479" y="4784887"/>
            <a:ext cx="384048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800">
                <a:solidFill>
                  <a:srgbClr val="64748B"/>
                </a:solidFill>
              </a:defRPr>
            </a:lvl1pPr>
          </a:lstStyle>
          <a:p>
            <a:pPr/>
            <a:r>
              <a:t>All papers freely accessible via arXiv · PubMed Central · Atlantis Press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